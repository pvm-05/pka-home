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quý thầy cô trong Hội đồng đánh giá đồ án liên ngành! Em tên là Phạm Văn Minh, sinh viên khóa 2023 ngành Công nghệ Thông tin. Hôm nay, em xin phép được báo cáo kết quả nghiên cứu và hiện thực hóa đề tài: 'Ứng dụng Quản lý Chung cư PKA-Home' dưới sự hướng dẫn khoa học của Tiến sĩ Nguyễn Thị Vân. Kính mời quý thầy cô cùng theo dõi nội dung báo cáo.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Nội dung báo cáo của em ngày hôm nay gồm tám phần trọng tâm, đi từ bài toán thực tế, phân tích thiết kế, các giải pháp kỹ thuật bảo đảm an toàn dữ liệu, đến kết quả nghiệm thu kiểm thử tự động trên hệ thống và kế hoạch mở rộng trong tương lai.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Hiện nay, việc quản trị chung cư thường gặp khó khăn do dữ liệu phân tán trên nhiều kênh như sổ sách, bảng tính và nhóm mạng xã hội. Điều này dẫn đến nguy cơ sai lệch số liệu tài chính khi chốt chỉ số điện nước, cư dân không theo dõi được tiến độ sửa chữa hạ tầng, và thông tin cư trú chưa được bảo vệ an toàn.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trọng tâm của đề tài là xây dựng một nền tảng chuyển đổi số toàn diện, kết nối cư dân với ban quản lý, đồng thời giải quyết triệt để vấn đề toàn vẹn dữ liệu tài chính bằng cách chuyển toàn bộ tính toán nhạy cảm về phía máy chủ thay vì tin cậy ứng dụng khách.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Hệ thống PKA-Home phân định năm nhóm vai trò độc lập. Tùy thuộc vào tài khoản đăng nhập, thanh điều hướng sẽ thay đổi động: Quản trị viên có đủ năm phân hệ, Kế toán tập trung vào tài chính và hóa đơn, trong khi Kỹ thuật viên chỉ thao tác trên phiếu sửa chữa sự cố.</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Trên sơ đồ ngữ cảnh, PKA-Home đóng vai trò hạt nhân tiếp nhận và điều phối mọi luồng thông tin giữa cư dân và bộ phận vận hành, đồng thời kết nối với các dịch vụ máy chủ như xác thực, lưu trữ và thông báo đẩy.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Hệ thống được thiết kế với 23 ca sử dụng chính, bao phủ từ các thao tác đơn giản như xem thông báo đến các nghiệp vụ phức tạp như điều phối danh sách chờ tiện ích và lập hóa đơn hàng loạt.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mặt kiến trúc, em áp dụng mô hình Feature-first kết hợp Riverpod. Toàn bộ logic giao diện được tách biệt tuyệt đối khỏi các thao tác gọi dữ liệu, giúp mã nguồn mạch lạc, dễ mở rộng và thuận tiện cho việc kiểm thử tự động.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Mô hình dữ liệu quan hệ gồm 16 bảng được chuẩn hóa, bảo đảm tính liên kết toàn vẹn từ người dùng, căn hộ đến từng hạng mục chi phí và lịch sử phản ánh sự cố.</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Điểm sáng bảo mật đầu tiên là cơ chế phòng thủ ba lớp chống leo thang đặc quyền. Kể cả khi kẻ tấn công can thiệp vào mã nguồn ứng dụng di động để gửi yêu cầu cập nhật quyền quản trị viên, tầng cơ sở dữ liệu sẽ lập tức phát hiện và hủy giao dịch.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mặt tài chính, em loại bỏ hoàn toàn việc tính tiền từ ứng dụng di động. Toàn bộ tiền thành phần và tổng tiền hóa đơn đều do chính hệ quản trị cơ sở dữ liệu tính toán tự động qua cột Generated Column và Trigger máy chủ.</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Khi đặt các tiện ích có sức chứa giới hạn như bể bơi hay phòng tập thể thao, hệ thống áp dụng khóa giao dịch để giải quyết bài toán đặt chỗ đồng thời, đồng thời hỗ trợ hủy lịch an toàn tự động hoàn tiền và đôn lượt chờ.</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Hệ thống bổ sung phân hệ Quản trị tiện ích 3 Tab hiện đại và cơ chế thông báo phân nhóm đích, giúp ban quản lý vận hành chính xác từng dịch vụ tòa nhà mà không làm phiền những cư dân không liên quan.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 trình khai báo chỉ số điện nước kết nối trực tiếp với khâu thanh toán. Kế toán sau khi duyệt ảnh công tơ có thể kích hoạt tạo hóa đơn tự động; cư dân sau đó thanh toán ngay qua cổng VietQR mô phỏng hoặc chuyển khoản hai bước.</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bảo đảm phần mềm vận hành ổn định và không phát sinh lỗi tiềm ẩn, em đã xây dựng một bộ test suite gồm 131 tệp với 408 ca kiểm thử tự động. Toàn bộ các ca test logic đều vượt qua 100%, bảo đảm từ phân tích tĩnh đến kiểm thử bảo mật RLS.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mời quý thầy cô quan sát giao diện thực tế của phân hệ Cư dân. Trang chủ được thiết kế theo xu hướng Smart Dashboard với tông màu trực quan, hiển thị công nợ tức thì và hỗ trợ các thao tác thanh toán, báo sự cố chỉ với một chạm.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Đối với phân hệ Ban Quản Lý, bảng điều khiển tập trung toàn bộ các đầu việc tồn đọng dưới dạng thẻ có huy hiệu thông báo số lượng, hỗ trợ lập hóa đơn tự động cho hàng trăm căn hộ và theo dõi điểm đánh giá dịch vụ của từng kỹ thuật viên.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Dự án được triển khai có kỷ luật qua sáu giai đoạn trong vòng sáu tuần, mỗi bước đều có mục tiêu và sản phẩm đầu ra rõ ràng, bảo đảm tiến độ bàn giao đúng hạn.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Đồ án đã hoàn thành toàn bộ các mục tiêu đặt ra, cung cấp một sản phẩm có tính hoàn thiện cao, vừa đáp ứng tốt nghiệp vụ quản lý chung cư, vừa bảo đảm nghiêm ngặt các tiêu chuẩn an toàn thông tin của một hệ thống phần mềm hiện đại.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xin chân thành cảm ơn quý thầy cô trong Hội đồng đã chú ý lắng nghe bài báo cáo của em. Em rất mong nhận được những ý kiến đóng góp, nhận xét và câu hỏi của quý thầy cô để sản phẩm được hoàn thiện hơn nữa. Em xin trân trọng cảm ơn!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png"/>
          <p:cNvPicPr>
            <a:picLocks noChangeAspect="1"/>
          </p:cNvPicPr>
          <p:nvPr/>
        </p:nvPicPr>
        <p:blipFill>
          <a:blip r:embed="rId2"/>
          <a:stretch>
            <a:fillRect/>
          </a:stretch>
        </p:blipFill>
        <p:spPr>
          <a:xfrm>
            <a:off x="1097280" y="1645920"/>
            <a:ext cx="3795634" cy="3474720"/>
          </a:xfrm>
          <a:prstGeom prst="rect">
            <a:avLst/>
          </a:prstGeom>
        </p:spPr>
      </p:pic>
      <p:sp>
        <p:nvSpPr>
          <p:cNvPr id="4" name="TextBox 3"/>
          <p:cNvSpPr txBox="1"/>
          <p:nvPr/>
        </p:nvSpPr>
        <p:spPr>
          <a:xfrm>
            <a:off x="4389120" y="1097280"/>
            <a:ext cx="7132320" cy="4754880"/>
          </a:xfrm>
          <a:prstGeom prst="rect">
            <a:avLst/>
          </a:prstGeom>
          <a:noFill/>
        </p:spPr>
        <p:txBody>
          <a:bodyPr wrap="square">
            <a:spAutoFit/>
          </a:bodyPr>
          <a:lstStyle/>
          <a:p>
            <a:pPr>
              <a:defRPr sz="1500" b="1">
                <a:solidFill>
                  <a:srgbClr val="3182CE"/>
                </a:solidFill>
                <a:latin typeface="Segoe UI"/>
              </a:defRPr>
            </a:pPr>
            <a:r>
              <a:t>TRƯỜNG ĐẠI HỌC PHENIKAA</a:t>
            </a:r>
            <a:br/>
            <a:r>
              <a:t>TRƯỜNG CÔNG NGHỆ THÔNG TIN</a:t>
            </a:r>
          </a:p>
          <a:p>
            <a:br/>
            <a:pPr>
              <a:defRPr sz="2000" b="1">
                <a:solidFill>
                  <a:srgbClr val="DD6B20"/>
                </a:solidFill>
                <a:latin typeface="Segoe UI"/>
              </a:defRPr>
            </a:pPr>
            <a:r>
              <a:t>BÁO CÁO ĐỒ ÁN LIÊN NGÀNH</a:t>
            </a:r>
          </a:p>
          <a:p>
            <a:pPr>
              <a:defRPr sz="3000" b="1">
                <a:solidFill>
                  <a:srgbClr val="FFFFFF"/>
                </a:solidFill>
                <a:latin typeface="Segoe UI"/>
              </a:defRPr>
            </a:pPr>
            <a:r>
              <a:t>ỨNG DỤNG QUẢN LÝ CHUNG CƯ</a:t>
            </a:r>
            <a:br/>
            <a:r>
              <a:t>(PKA-HOME)</a:t>
            </a:r>
          </a:p>
          <a:p>
            <a:br/>
            <a:pPr>
              <a:defRPr sz="1300">
                <a:solidFill>
                  <a:srgbClr val="E2E8F0"/>
                </a:solidFill>
                <a:latin typeface="Segoe UI"/>
              </a:defRPr>
            </a:pPr>
            <a:r>
              <a:t>Sinh viên thực hiện: Phạm Văn Minh</a:t>
            </a:r>
            <a:br/>
            <a:r>
              <a:t>Mã sinh viên: 23010350</a:t>
            </a:r>
            <a:br/>
            <a:r>
              <a:t>Email: 23010350@st.phenikaa-uni.edu.vn</a:t>
            </a:r>
            <a:br/>
            <a:br/>
            <a:r>
              <a:t>Giảng viên hướng dẫn: Tiến sĩ Nguyễn Thị Vân</a:t>
            </a:r>
            <a:br/>
            <a:r>
              <a:t>Thời gian: Hà Nội, tháng 10 năm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9144000" cy="274320"/>
          </a:xfrm>
          <a:prstGeom prst="rect">
            <a:avLst/>
          </a:prstGeom>
          <a:noFill/>
        </p:spPr>
        <p:txBody>
          <a:bodyPr wrap="square">
            <a:spAutoFit/>
          </a:bodyPr>
          <a:lstStyle/>
          <a:p>
            <a:pPr>
              <a:defRPr sz="950" b="1">
                <a:solidFill>
                  <a:srgbClr val="3182CE"/>
                </a:solidFill>
                <a:latin typeface="Segoe UI"/>
              </a:defRPr>
            </a:pPr>
            <a:r>
              <a:t>ĐỒ ÁN LIÊN NGÀNH - TRƯỜNG CÔNG NGHỆ THÔNG TIN</a:t>
            </a:r>
          </a:p>
        </p:txBody>
      </p:sp>
      <p:sp>
        <p:nvSpPr>
          <p:cNvPr id="4" name="TextBox 3"/>
          <p:cNvSpPr txBox="1"/>
          <p:nvPr/>
        </p:nvSpPr>
        <p:spPr>
          <a:xfrm>
            <a:off x="731520" y="384048"/>
            <a:ext cx="10515600" cy="594360"/>
          </a:xfrm>
          <a:prstGeom prst="rect">
            <a:avLst/>
          </a:prstGeom>
          <a:noFill/>
        </p:spPr>
        <p:txBody>
          <a:bodyPr wrap="square">
            <a:spAutoFit/>
          </a:bodyPr>
          <a:lstStyle/>
          <a:p>
            <a:pPr>
              <a:defRPr sz="2200" b="1">
                <a:solidFill>
                  <a:srgbClr val="FFFFFF"/>
                </a:solidFill>
                <a:latin typeface="Segoe UI"/>
              </a:defRPr>
            </a:pPr>
            <a:r>
              <a:t>NỘI DUNG BÁO CÁO ĐỒ ÁN (AGENDA)</a:t>
            </a:r>
          </a:p>
        </p:txBody>
      </p:sp>
      <p:sp>
        <p:nvSpPr>
          <p:cNvPr id="5" name="Rectangle 4"/>
          <p:cNvSpPr/>
          <p:nvPr/>
        </p:nvSpPr>
        <p:spPr>
          <a:xfrm>
            <a:off x="0" y="1051560"/>
            <a:ext cx="12191695" cy="45720"/>
          </a:xfrm>
          <a:prstGeom prst="rect">
            <a:avLst/>
          </a:prstGeom>
          <a:solidFill>
            <a:srgbClr val="DD6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120640" cy="1051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554480"/>
            <a:ext cx="685800" cy="685800"/>
          </a:xfrm>
          <a:prstGeom prst="round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Segoe UI"/>
              </a:defRPr>
            </a:pPr>
            <a:r>
              <a:t>01</a:t>
            </a:r>
          </a:p>
        </p:txBody>
      </p:sp>
      <p:sp>
        <p:nvSpPr>
          <p:cNvPr id="8" name="TextBox 7"/>
          <p:cNvSpPr txBox="1"/>
          <p:nvPr/>
        </p:nvSpPr>
        <p:spPr>
          <a:xfrm>
            <a:off x="1737360" y="1508760"/>
            <a:ext cx="3931920" cy="777240"/>
          </a:xfrm>
          <a:prstGeom prst="rect">
            <a:avLst/>
          </a:prstGeom>
          <a:noFill/>
        </p:spPr>
        <p:txBody>
          <a:bodyPr wrap="square">
            <a:spAutoFit/>
          </a:bodyPr>
          <a:lstStyle/>
          <a:p>
            <a:pPr>
              <a:defRPr sz="1200" b="1">
                <a:solidFill>
                  <a:srgbClr val="1A365D"/>
                </a:solidFill>
                <a:latin typeface="Segoe UI"/>
              </a:defRPr>
            </a:pPr>
            <a:r>
              <a:t>ĐẶT VẤN ĐỀ &amp; MỤC TIÊU</a:t>
            </a:r>
          </a:p>
          <a:p>
            <a:pPr>
              <a:defRPr sz="950">
                <a:solidFill>
                  <a:srgbClr val="718096"/>
                </a:solidFill>
                <a:latin typeface="Segoe UI"/>
              </a:defRPr>
            </a:pPr>
            <a:r>
              <a:t>Thực trạng vận hành chung cư, mục tiêu và phạm vi đề tài</a:t>
            </a:r>
          </a:p>
        </p:txBody>
      </p:sp>
      <p:sp>
        <p:nvSpPr>
          <p:cNvPr id="9" name="Rounded Rectangle 8"/>
          <p:cNvSpPr/>
          <p:nvPr/>
        </p:nvSpPr>
        <p:spPr>
          <a:xfrm>
            <a:off x="6126480" y="1371600"/>
            <a:ext cx="5120640" cy="1051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309360" y="1554480"/>
            <a:ext cx="685800" cy="685800"/>
          </a:xfrm>
          <a:prstGeom prst="round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Segoe UI"/>
              </a:defRPr>
            </a:pPr>
            <a:r>
              <a:t>02</a:t>
            </a:r>
          </a:p>
        </p:txBody>
      </p:sp>
      <p:sp>
        <p:nvSpPr>
          <p:cNvPr id="11" name="TextBox 10"/>
          <p:cNvSpPr txBox="1"/>
          <p:nvPr/>
        </p:nvSpPr>
        <p:spPr>
          <a:xfrm>
            <a:off x="7132320" y="1508760"/>
            <a:ext cx="3931920" cy="777240"/>
          </a:xfrm>
          <a:prstGeom prst="rect">
            <a:avLst/>
          </a:prstGeom>
          <a:noFill/>
        </p:spPr>
        <p:txBody>
          <a:bodyPr wrap="square">
            <a:spAutoFit/>
          </a:bodyPr>
          <a:lstStyle/>
          <a:p>
            <a:pPr>
              <a:defRPr sz="1200" b="1">
                <a:solidFill>
                  <a:srgbClr val="1A365D"/>
                </a:solidFill>
                <a:latin typeface="Segoe UI"/>
              </a:defRPr>
            </a:pPr>
            <a:r>
              <a:t>KHẢO SÁT &amp; GIẢI PHÁP ĐỀ XUẤT</a:t>
            </a:r>
          </a:p>
          <a:p>
            <a:pPr>
              <a:defRPr sz="950">
                <a:solidFill>
                  <a:srgbClr val="718096"/>
                </a:solidFill>
                <a:latin typeface="Segoe UI"/>
              </a:defRPr>
            </a:pPr>
            <a:r>
              <a:t>So sánh các phương thức quản lý và giá trị mới của PKA-Home</a:t>
            </a:r>
          </a:p>
        </p:txBody>
      </p:sp>
      <p:sp>
        <p:nvSpPr>
          <p:cNvPr id="12" name="Rounded Rectangle 11"/>
          <p:cNvSpPr/>
          <p:nvPr/>
        </p:nvSpPr>
        <p:spPr>
          <a:xfrm>
            <a:off x="731520" y="2606040"/>
            <a:ext cx="5120640" cy="1051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14400" y="2788920"/>
            <a:ext cx="685800" cy="685800"/>
          </a:xfrm>
          <a:prstGeom prst="round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Segoe UI"/>
              </a:defRPr>
            </a:pPr>
            <a:r>
              <a:t>03</a:t>
            </a:r>
          </a:p>
        </p:txBody>
      </p:sp>
      <p:sp>
        <p:nvSpPr>
          <p:cNvPr id="14" name="TextBox 13"/>
          <p:cNvSpPr txBox="1"/>
          <p:nvPr/>
        </p:nvSpPr>
        <p:spPr>
          <a:xfrm>
            <a:off x="1737360" y="2743200"/>
            <a:ext cx="3931920" cy="777240"/>
          </a:xfrm>
          <a:prstGeom prst="rect">
            <a:avLst/>
          </a:prstGeom>
          <a:noFill/>
        </p:spPr>
        <p:txBody>
          <a:bodyPr wrap="square">
            <a:spAutoFit/>
          </a:bodyPr>
          <a:lstStyle/>
          <a:p>
            <a:pPr>
              <a:defRPr sz="1200" b="1">
                <a:solidFill>
                  <a:srgbClr val="1A365D"/>
                </a:solidFill>
                <a:latin typeface="Segoe UI"/>
              </a:defRPr>
            </a:pPr>
            <a:r>
              <a:t>PHÂN TÍCH YÊU CẦU &amp; THIẾT KẾ</a:t>
            </a:r>
          </a:p>
          <a:p>
            <a:pPr>
              <a:defRPr sz="950">
                <a:solidFill>
                  <a:srgbClr val="718096"/>
                </a:solidFill>
                <a:latin typeface="Segoe UI"/>
              </a:defRPr>
            </a:pPr>
            <a:r>
              <a:t>Mô hình tác nhân, 23 ca sử dụng và đặc tả chi tiết nghiệp vụ</a:t>
            </a:r>
          </a:p>
        </p:txBody>
      </p:sp>
      <p:sp>
        <p:nvSpPr>
          <p:cNvPr id="15" name="Rounded Rectangle 14"/>
          <p:cNvSpPr/>
          <p:nvPr/>
        </p:nvSpPr>
        <p:spPr>
          <a:xfrm>
            <a:off x="6126480" y="2606040"/>
            <a:ext cx="5120640" cy="1051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09360" y="2788920"/>
            <a:ext cx="685800" cy="685800"/>
          </a:xfrm>
          <a:prstGeom prst="round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Segoe UI"/>
              </a:defRPr>
            </a:pPr>
            <a:r>
              <a:t>04</a:t>
            </a:r>
          </a:p>
        </p:txBody>
      </p:sp>
      <p:sp>
        <p:nvSpPr>
          <p:cNvPr id="17" name="TextBox 16"/>
          <p:cNvSpPr txBox="1"/>
          <p:nvPr/>
        </p:nvSpPr>
        <p:spPr>
          <a:xfrm>
            <a:off x="7132320" y="2743200"/>
            <a:ext cx="3931920" cy="777240"/>
          </a:xfrm>
          <a:prstGeom prst="rect">
            <a:avLst/>
          </a:prstGeom>
          <a:noFill/>
        </p:spPr>
        <p:txBody>
          <a:bodyPr wrap="square">
            <a:spAutoFit/>
          </a:bodyPr>
          <a:lstStyle/>
          <a:p>
            <a:pPr>
              <a:defRPr sz="1200" b="1">
                <a:solidFill>
                  <a:srgbClr val="1A365D"/>
                </a:solidFill>
                <a:latin typeface="Segoe UI"/>
              </a:defRPr>
            </a:pPr>
            <a:r>
              <a:t>KIẾN TRÚC PHẦN MỀM &amp; CSDL</a:t>
            </a:r>
          </a:p>
          <a:p>
            <a:pPr>
              <a:defRPr sz="950">
                <a:solidFill>
                  <a:srgbClr val="718096"/>
                </a:solidFill>
                <a:latin typeface="Segoe UI"/>
              </a:defRPr>
            </a:pPr>
            <a:r>
              <a:t>Kiến trúc Feature-first, 16 bảng CSDL quan hệ và RPC máy chủ</a:t>
            </a:r>
          </a:p>
        </p:txBody>
      </p:sp>
      <p:sp>
        <p:nvSpPr>
          <p:cNvPr id="18" name="Rounded Rectangle 17"/>
          <p:cNvSpPr/>
          <p:nvPr/>
        </p:nvSpPr>
        <p:spPr>
          <a:xfrm>
            <a:off x="731520" y="3840480"/>
            <a:ext cx="5120640" cy="1051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4400" y="4023360"/>
            <a:ext cx="685800" cy="685800"/>
          </a:xfrm>
          <a:prstGeom prst="round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Segoe UI"/>
              </a:defRPr>
            </a:pPr>
            <a:r>
              <a:t>05</a:t>
            </a:r>
          </a:p>
        </p:txBody>
      </p:sp>
      <p:sp>
        <p:nvSpPr>
          <p:cNvPr id="20" name="TextBox 19"/>
          <p:cNvSpPr txBox="1"/>
          <p:nvPr/>
        </p:nvSpPr>
        <p:spPr>
          <a:xfrm>
            <a:off x="1737360" y="3977640"/>
            <a:ext cx="3931920" cy="777240"/>
          </a:xfrm>
          <a:prstGeom prst="rect">
            <a:avLst/>
          </a:prstGeom>
          <a:noFill/>
        </p:spPr>
        <p:txBody>
          <a:bodyPr wrap="square">
            <a:spAutoFit/>
          </a:bodyPr>
          <a:lstStyle/>
          <a:p>
            <a:pPr>
              <a:defRPr sz="1200" b="1">
                <a:solidFill>
                  <a:srgbClr val="1A365D"/>
                </a:solidFill>
                <a:latin typeface="Segoe UI"/>
              </a:defRPr>
            </a:pPr>
            <a:r>
              <a:t>ĐIỂM SÁNG KỸ THUẬT &amp; TOÀN VẸN</a:t>
            </a:r>
          </a:p>
          <a:p>
            <a:pPr>
              <a:defRPr sz="950">
                <a:solidFill>
                  <a:srgbClr val="718096"/>
                </a:solidFill>
                <a:latin typeface="Segoe UI"/>
              </a:defRPr>
            </a:pPr>
            <a:r>
              <a:t>Phòng thủ 3 lớp, bảo toàn tài chính CSDL, khóa sức chứa tiện ích</a:t>
            </a:r>
          </a:p>
        </p:txBody>
      </p:sp>
      <p:sp>
        <p:nvSpPr>
          <p:cNvPr id="21" name="Rounded Rectangle 20"/>
          <p:cNvSpPr/>
          <p:nvPr/>
        </p:nvSpPr>
        <p:spPr>
          <a:xfrm>
            <a:off x="6126480" y="3840480"/>
            <a:ext cx="5120640" cy="1051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309360" y="4023360"/>
            <a:ext cx="685800" cy="685800"/>
          </a:xfrm>
          <a:prstGeom prst="round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Segoe UI"/>
              </a:defRPr>
            </a:pPr>
            <a:r>
              <a:t>06</a:t>
            </a:r>
          </a:p>
        </p:txBody>
      </p:sp>
      <p:sp>
        <p:nvSpPr>
          <p:cNvPr id="23" name="TextBox 22"/>
          <p:cNvSpPr txBox="1"/>
          <p:nvPr/>
        </p:nvSpPr>
        <p:spPr>
          <a:xfrm>
            <a:off x="7132320" y="3977640"/>
            <a:ext cx="3931920" cy="777240"/>
          </a:xfrm>
          <a:prstGeom prst="rect">
            <a:avLst/>
          </a:prstGeom>
          <a:noFill/>
        </p:spPr>
        <p:txBody>
          <a:bodyPr wrap="square">
            <a:spAutoFit/>
          </a:bodyPr>
          <a:lstStyle/>
          <a:p>
            <a:pPr>
              <a:defRPr sz="1200" b="1">
                <a:solidFill>
                  <a:srgbClr val="1A365D"/>
                </a:solidFill>
                <a:latin typeface="Segoe UI"/>
              </a:defRPr>
            </a:pPr>
            <a:r>
              <a:t>KẾT QUẢ TRIỂN KHAI &amp; GIAO DIỆN</a:t>
            </a:r>
          </a:p>
          <a:p>
            <a:pPr>
              <a:defRPr sz="950">
                <a:solidFill>
                  <a:srgbClr val="718096"/>
                </a:solidFill>
                <a:latin typeface="Segoe UI"/>
              </a:defRPr>
            </a:pPr>
            <a:r>
              <a:t>Minh chứng ứng dụng thực tế phân hệ Cư dân và Ban Quản Lý</a:t>
            </a:r>
          </a:p>
        </p:txBody>
      </p:sp>
      <p:sp>
        <p:nvSpPr>
          <p:cNvPr id="24" name="Rounded Rectangle 23"/>
          <p:cNvSpPr/>
          <p:nvPr/>
        </p:nvSpPr>
        <p:spPr>
          <a:xfrm>
            <a:off x="731520" y="5074920"/>
            <a:ext cx="5120640" cy="1051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4400" y="5257800"/>
            <a:ext cx="685800" cy="685800"/>
          </a:xfrm>
          <a:prstGeom prst="round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Segoe UI"/>
              </a:defRPr>
            </a:pPr>
            <a:r>
              <a:t>07</a:t>
            </a:r>
          </a:p>
        </p:txBody>
      </p:sp>
      <p:sp>
        <p:nvSpPr>
          <p:cNvPr id="26" name="TextBox 25"/>
          <p:cNvSpPr txBox="1"/>
          <p:nvPr/>
        </p:nvSpPr>
        <p:spPr>
          <a:xfrm>
            <a:off x="1737360" y="5212080"/>
            <a:ext cx="3931920" cy="777240"/>
          </a:xfrm>
          <a:prstGeom prst="rect">
            <a:avLst/>
          </a:prstGeom>
          <a:noFill/>
        </p:spPr>
        <p:txBody>
          <a:bodyPr wrap="square">
            <a:spAutoFit/>
          </a:bodyPr>
          <a:lstStyle/>
          <a:p>
            <a:pPr>
              <a:defRPr sz="1200" b="1">
                <a:solidFill>
                  <a:srgbClr val="1A365D"/>
                </a:solidFill>
                <a:latin typeface="Segoe UI"/>
              </a:defRPr>
            </a:pPr>
            <a:r>
              <a:t>KIỂM THỬ TỰ ĐỘNG &amp; NGHIỆM THU</a:t>
            </a:r>
          </a:p>
          <a:p>
            <a:pPr>
              <a:defRPr sz="950">
                <a:solidFill>
                  <a:srgbClr val="718096"/>
                </a:solidFill>
                <a:latin typeface="Segoe UI"/>
              </a:defRPr>
            </a:pPr>
            <a:r>
              <a:t>131 tệp kiểm thử, 395 ca test vượt qua 100%, phân tích tĩnh sạch</a:t>
            </a:r>
          </a:p>
        </p:txBody>
      </p:sp>
      <p:sp>
        <p:nvSpPr>
          <p:cNvPr id="27" name="Rounded Rectangle 26"/>
          <p:cNvSpPr/>
          <p:nvPr/>
        </p:nvSpPr>
        <p:spPr>
          <a:xfrm>
            <a:off x="6126480" y="5074920"/>
            <a:ext cx="5120640" cy="1051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09360" y="5257800"/>
            <a:ext cx="685800" cy="685800"/>
          </a:xfrm>
          <a:prstGeom prst="round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Segoe UI"/>
              </a:defRPr>
            </a:pPr>
            <a:r>
              <a:t>08</a:t>
            </a:r>
          </a:p>
        </p:txBody>
      </p:sp>
      <p:sp>
        <p:nvSpPr>
          <p:cNvPr id="29" name="TextBox 28"/>
          <p:cNvSpPr txBox="1"/>
          <p:nvPr/>
        </p:nvSpPr>
        <p:spPr>
          <a:xfrm>
            <a:off x="7132320" y="5212080"/>
            <a:ext cx="3931920" cy="777240"/>
          </a:xfrm>
          <a:prstGeom prst="rect">
            <a:avLst/>
          </a:prstGeom>
          <a:noFill/>
        </p:spPr>
        <p:txBody>
          <a:bodyPr wrap="square">
            <a:spAutoFit/>
          </a:bodyPr>
          <a:lstStyle/>
          <a:p>
            <a:pPr>
              <a:defRPr sz="1200" b="1">
                <a:solidFill>
                  <a:srgbClr val="1A365D"/>
                </a:solidFill>
                <a:latin typeface="Segoe UI"/>
              </a:defRPr>
            </a:pPr>
            <a:r>
              <a:t>KẾT LUẬN &amp; HƯỚNG PHÁT TRIỂN</a:t>
            </a:r>
          </a:p>
          <a:p>
            <a:pPr>
              <a:defRPr sz="950">
                <a:solidFill>
                  <a:srgbClr val="718096"/>
                </a:solidFill>
                <a:latin typeface="Segoe UI"/>
              </a:defRPr>
            </a:pPr>
            <a:r>
              <a:t>Đánh giá kết quả đạt được và định hướng nâng cấp trong tương lai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9144000" cy="274320"/>
          </a:xfrm>
          <a:prstGeom prst="rect">
            <a:avLst/>
          </a:prstGeom>
          <a:noFill/>
        </p:spPr>
        <p:txBody>
          <a:bodyPr wrap="square">
            <a:spAutoFit/>
          </a:bodyPr>
          <a:lstStyle/>
          <a:p>
            <a:pPr>
              <a:defRPr sz="950" b="1">
                <a:solidFill>
                  <a:srgbClr val="3182CE"/>
                </a:solidFill>
                <a:latin typeface="Segoe UI"/>
              </a:defRPr>
            </a:pPr>
            <a:r>
              <a:t>ĐỒ ÁN LIÊN NGÀNH - TRƯỜNG CÔNG NGHỆ THÔNG TIN</a:t>
            </a:r>
          </a:p>
        </p:txBody>
      </p:sp>
      <p:sp>
        <p:nvSpPr>
          <p:cNvPr id="4" name="TextBox 3"/>
          <p:cNvSpPr txBox="1"/>
          <p:nvPr/>
        </p:nvSpPr>
        <p:spPr>
          <a:xfrm>
            <a:off x="731520" y="384048"/>
            <a:ext cx="10515600" cy="594360"/>
          </a:xfrm>
          <a:prstGeom prst="rect">
            <a:avLst/>
          </a:prstGeom>
          <a:noFill/>
        </p:spPr>
        <p:txBody>
          <a:bodyPr wrap="square">
            <a:spAutoFit/>
          </a:bodyPr>
          <a:lstStyle/>
          <a:p>
            <a:pPr>
              <a:defRPr sz="2200" b="1">
                <a:solidFill>
                  <a:srgbClr val="FFFFFF"/>
                </a:solidFill>
                <a:latin typeface="Segoe UI"/>
              </a:defRPr>
            </a:pPr>
            <a:r>
              <a:t>ĐẶT VẤN ĐỀ &amp; THỰC TRẠNG QUẢN TRỊ TÒA NHÀ</a:t>
            </a:r>
          </a:p>
        </p:txBody>
      </p:sp>
      <p:sp>
        <p:nvSpPr>
          <p:cNvPr id="5" name="Rectangle 4"/>
          <p:cNvSpPr/>
          <p:nvPr/>
        </p:nvSpPr>
        <p:spPr>
          <a:xfrm>
            <a:off x="0" y="1051560"/>
            <a:ext cx="12191695" cy="45720"/>
          </a:xfrm>
          <a:prstGeom prst="rect">
            <a:avLst/>
          </a:prstGeom>
          <a:solidFill>
            <a:srgbClr val="DD6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120640" cy="2103120"/>
          </a:xfrm>
          <a:prstGeom prst="roundRect">
            <a:avLst/>
          </a:prstGeom>
          <a:solidFill>
            <a:srgbClr val="FFFFFF"/>
          </a:solidFill>
          <a:ln w="19050">
            <a:solidFill>
              <a:srgbClr val="DD6B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481328"/>
            <a:ext cx="4846320" cy="411480"/>
          </a:xfrm>
          <a:prstGeom prst="rect">
            <a:avLst/>
          </a:prstGeom>
          <a:noFill/>
        </p:spPr>
        <p:txBody>
          <a:bodyPr wrap="square">
            <a:spAutoFit/>
          </a:bodyPr>
          <a:lstStyle/>
          <a:p>
            <a:pPr>
              <a:defRPr sz="1300" b="1">
                <a:solidFill>
                  <a:srgbClr val="1A365D"/>
                </a:solidFill>
                <a:latin typeface="Segoe UI"/>
              </a:defRPr>
            </a:pPr>
            <a:r>
              <a:t>DỮ LIỆU PHÂN TÁN</a:t>
            </a:r>
          </a:p>
        </p:txBody>
      </p:sp>
      <p:sp>
        <p:nvSpPr>
          <p:cNvPr id="8" name="TextBox 7"/>
          <p:cNvSpPr txBox="1"/>
          <p:nvPr/>
        </p:nvSpPr>
        <p:spPr>
          <a:xfrm>
            <a:off x="914400" y="1965960"/>
            <a:ext cx="4754880" cy="1371600"/>
          </a:xfrm>
          <a:prstGeom prst="rect">
            <a:avLst/>
          </a:prstGeom>
          <a:noFill/>
        </p:spPr>
        <p:txBody>
          <a:bodyPr wrap="square">
            <a:spAutoFit/>
          </a:bodyPr>
          <a:lstStyle/>
          <a:p>
            <a:pPr>
              <a:lnSpc>
                <a:spcPct val="130000"/>
              </a:lnSpc>
              <a:defRPr sz="1200">
                <a:solidFill>
                  <a:srgbClr val="2D3748"/>
                </a:solidFill>
                <a:latin typeface="Segoe UI"/>
              </a:defRPr>
            </a:pPr>
            <a:r>
              <a:t>Ghi chép thủ công trên giấy tờ và nhiều tệp bảng tính rời rạc. Thông báo gửi qua mạng xã hội dễ bị trôi tin, thất lạc lịch sử trao đổi.</a:t>
            </a:r>
          </a:p>
        </p:txBody>
      </p:sp>
      <p:sp>
        <p:nvSpPr>
          <p:cNvPr id="9" name="Rounded Rectangle 8"/>
          <p:cNvSpPr/>
          <p:nvPr/>
        </p:nvSpPr>
        <p:spPr>
          <a:xfrm>
            <a:off x="6126480" y="1371600"/>
            <a:ext cx="5120640" cy="2103120"/>
          </a:xfrm>
          <a:prstGeom prst="roundRect">
            <a:avLst/>
          </a:prstGeom>
          <a:solidFill>
            <a:srgbClr val="FFFFFF"/>
          </a:solidFill>
          <a:ln w="19050">
            <a:solidFill>
              <a:srgbClr val="DD6B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1481328"/>
            <a:ext cx="4846320" cy="411480"/>
          </a:xfrm>
          <a:prstGeom prst="rect">
            <a:avLst/>
          </a:prstGeom>
          <a:noFill/>
        </p:spPr>
        <p:txBody>
          <a:bodyPr wrap="square">
            <a:spAutoFit/>
          </a:bodyPr>
          <a:lstStyle/>
          <a:p>
            <a:pPr>
              <a:defRPr sz="1300" b="1">
                <a:solidFill>
                  <a:srgbClr val="1A365D"/>
                </a:solidFill>
                <a:latin typeface="Segoe UI"/>
              </a:defRPr>
            </a:pPr>
            <a:r>
              <a:t>SAI LỆCH TÀI CHÍNH</a:t>
            </a:r>
          </a:p>
        </p:txBody>
      </p:sp>
      <p:sp>
        <p:nvSpPr>
          <p:cNvPr id="11" name="TextBox 10"/>
          <p:cNvSpPr txBox="1"/>
          <p:nvPr/>
        </p:nvSpPr>
        <p:spPr>
          <a:xfrm>
            <a:off x="6309360" y="1965960"/>
            <a:ext cx="4754880" cy="1371600"/>
          </a:xfrm>
          <a:prstGeom prst="rect">
            <a:avLst/>
          </a:prstGeom>
          <a:noFill/>
        </p:spPr>
        <p:txBody>
          <a:bodyPr wrap="square">
            <a:spAutoFit/>
          </a:bodyPr>
          <a:lstStyle/>
          <a:p>
            <a:pPr>
              <a:lnSpc>
                <a:spcPct val="130000"/>
              </a:lnSpc>
              <a:defRPr sz="1200">
                <a:solidFill>
                  <a:srgbClr val="2D3748"/>
                </a:solidFill>
                <a:latin typeface="Segoe UI"/>
              </a:defRPr>
            </a:pPr>
            <a:r>
              <a:t>Thu thập chỉ số điện nước và tính tiền thủ công dễ dẫn đến sai sót số đo, nhầm lẫn đơn giá hoặc phát hành trùng lặp hóa đơn trong cùng kỳ.</a:t>
            </a:r>
          </a:p>
        </p:txBody>
      </p:sp>
      <p:sp>
        <p:nvSpPr>
          <p:cNvPr id="12" name="Rounded Rectangle 11"/>
          <p:cNvSpPr/>
          <p:nvPr/>
        </p:nvSpPr>
        <p:spPr>
          <a:xfrm>
            <a:off x="731520" y="3749039"/>
            <a:ext cx="5120640" cy="2103120"/>
          </a:xfrm>
          <a:prstGeom prst="roundRect">
            <a:avLst/>
          </a:prstGeom>
          <a:solidFill>
            <a:srgbClr val="FFFFFF"/>
          </a:solidFill>
          <a:ln w="1905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858767"/>
            <a:ext cx="4846320" cy="411480"/>
          </a:xfrm>
          <a:prstGeom prst="rect">
            <a:avLst/>
          </a:prstGeom>
          <a:noFill/>
        </p:spPr>
        <p:txBody>
          <a:bodyPr wrap="square">
            <a:spAutoFit/>
          </a:bodyPr>
          <a:lstStyle/>
          <a:p>
            <a:pPr>
              <a:defRPr sz="1300" b="1">
                <a:solidFill>
                  <a:srgbClr val="1A365D"/>
                </a:solidFill>
                <a:latin typeface="Segoe UI"/>
              </a:defRPr>
            </a:pPr>
            <a:r>
              <a:t>THIẾU MINH BẠCH &amp; TỨC THỜI</a:t>
            </a:r>
          </a:p>
        </p:txBody>
      </p:sp>
      <p:sp>
        <p:nvSpPr>
          <p:cNvPr id="14" name="TextBox 13"/>
          <p:cNvSpPr txBox="1"/>
          <p:nvPr/>
        </p:nvSpPr>
        <p:spPr>
          <a:xfrm>
            <a:off x="914400" y="4343399"/>
            <a:ext cx="4754880" cy="1371600"/>
          </a:xfrm>
          <a:prstGeom prst="rect">
            <a:avLst/>
          </a:prstGeom>
          <a:noFill/>
        </p:spPr>
        <p:txBody>
          <a:bodyPr wrap="square">
            <a:spAutoFit/>
          </a:bodyPr>
          <a:lstStyle/>
          <a:p>
            <a:pPr>
              <a:lnSpc>
                <a:spcPct val="130000"/>
              </a:lnSpc>
              <a:defRPr sz="1200">
                <a:solidFill>
                  <a:srgbClr val="2D3748"/>
                </a:solidFill>
                <a:latin typeface="Segoe UI"/>
              </a:defRPr>
            </a:pPr>
            <a:r>
              <a:t>Cư dân không theo dõi được tiến độ khắc phục sự cố hư hỏng hạ tầng; Ban Quản Lý gặp khó khăn trong việc điều phối nhân sự kỹ thuật.</a:t>
            </a:r>
          </a:p>
        </p:txBody>
      </p:sp>
      <p:sp>
        <p:nvSpPr>
          <p:cNvPr id="15" name="Rounded Rectangle 14"/>
          <p:cNvSpPr/>
          <p:nvPr/>
        </p:nvSpPr>
        <p:spPr>
          <a:xfrm>
            <a:off x="6126480" y="3749039"/>
            <a:ext cx="5120640" cy="2103120"/>
          </a:xfrm>
          <a:prstGeom prst="roundRect">
            <a:avLst/>
          </a:prstGeom>
          <a:solidFill>
            <a:srgbClr val="FFFFFF"/>
          </a:solidFill>
          <a:ln w="1905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3858767"/>
            <a:ext cx="4846320" cy="411480"/>
          </a:xfrm>
          <a:prstGeom prst="rect">
            <a:avLst/>
          </a:prstGeom>
          <a:noFill/>
        </p:spPr>
        <p:txBody>
          <a:bodyPr wrap="square">
            <a:spAutoFit/>
          </a:bodyPr>
          <a:lstStyle/>
          <a:p>
            <a:pPr>
              <a:defRPr sz="1300" b="1">
                <a:solidFill>
                  <a:srgbClr val="1A365D"/>
                </a:solidFill>
                <a:latin typeface="Segoe UI"/>
              </a:defRPr>
            </a:pPr>
            <a:r>
              <a:t>RỦI RO BẢO MẬT THÔNG TIN</a:t>
            </a:r>
          </a:p>
        </p:txBody>
      </p:sp>
      <p:sp>
        <p:nvSpPr>
          <p:cNvPr id="17" name="TextBox 16"/>
          <p:cNvSpPr txBox="1"/>
          <p:nvPr/>
        </p:nvSpPr>
        <p:spPr>
          <a:xfrm>
            <a:off x="6309360" y="4343399"/>
            <a:ext cx="4754880" cy="1371600"/>
          </a:xfrm>
          <a:prstGeom prst="rect">
            <a:avLst/>
          </a:prstGeom>
          <a:noFill/>
        </p:spPr>
        <p:txBody>
          <a:bodyPr wrap="square">
            <a:spAutoFit/>
          </a:bodyPr>
          <a:lstStyle/>
          <a:p>
            <a:pPr>
              <a:lnSpc>
                <a:spcPct val="130000"/>
              </a:lnSpc>
              <a:defRPr sz="1200">
                <a:solidFill>
                  <a:srgbClr val="2D3748"/>
                </a:solidFill>
                <a:latin typeface="Segoe UI"/>
              </a:defRPr>
            </a:pPr>
            <a:r>
              <a:t>Thiếu cơ chế phân quyền bảo mật cấp dữ liệu, thông tin cá nhân và số điện thoại của cư dân có thể bị truy cập trái phép.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9144000" cy="274320"/>
          </a:xfrm>
          <a:prstGeom prst="rect">
            <a:avLst/>
          </a:prstGeom>
          <a:noFill/>
        </p:spPr>
        <p:txBody>
          <a:bodyPr wrap="square">
            <a:spAutoFit/>
          </a:bodyPr>
          <a:lstStyle/>
          <a:p>
            <a:pPr>
              <a:defRPr sz="950" b="1">
                <a:solidFill>
                  <a:srgbClr val="3182CE"/>
                </a:solidFill>
                <a:latin typeface="Segoe UI"/>
              </a:defRPr>
            </a:pPr>
            <a:r>
              <a:t>ĐỒ ÁN LIÊN NGÀNH - TRƯỜNG CÔNG NGHỆ THÔNG TIN</a:t>
            </a:r>
          </a:p>
        </p:txBody>
      </p:sp>
      <p:sp>
        <p:nvSpPr>
          <p:cNvPr id="4" name="TextBox 3"/>
          <p:cNvSpPr txBox="1"/>
          <p:nvPr/>
        </p:nvSpPr>
        <p:spPr>
          <a:xfrm>
            <a:off x="731520" y="384048"/>
            <a:ext cx="10515600" cy="594360"/>
          </a:xfrm>
          <a:prstGeom prst="rect">
            <a:avLst/>
          </a:prstGeom>
          <a:noFill/>
        </p:spPr>
        <p:txBody>
          <a:bodyPr wrap="square">
            <a:spAutoFit/>
          </a:bodyPr>
          <a:lstStyle/>
          <a:p>
            <a:pPr>
              <a:defRPr sz="2200" b="1">
                <a:solidFill>
                  <a:srgbClr val="FFFFFF"/>
                </a:solidFill>
                <a:latin typeface="Segoe UI"/>
              </a:defRPr>
            </a:pPr>
            <a:r>
              <a:t>MỤC TIÊU VÀ PHẠM VI NGHIÊN CỨU</a:t>
            </a:r>
          </a:p>
        </p:txBody>
      </p:sp>
      <p:sp>
        <p:nvSpPr>
          <p:cNvPr id="5" name="Rectangle 4"/>
          <p:cNvSpPr/>
          <p:nvPr/>
        </p:nvSpPr>
        <p:spPr>
          <a:xfrm>
            <a:off x="0" y="1051560"/>
            <a:ext cx="12191695" cy="45720"/>
          </a:xfrm>
          <a:prstGeom prst="rect">
            <a:avLst/>
          </a:prstGeom>
          <a:solidFill>
            <a:srgbClr val="DD6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120640" cy="4937760"/>
          </a:xfrm>
          <a:prstGeom prst="roundRect">
            <a:avLst/>
          </a:prstGeom>
          <a:solidFill>
            <a:srgbClr val="FFFFFF"/>
          </a:solidFill>
          <a:ln w="19050">
            <a:solidFill>
              <a:srgbClr val="318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481328"/>
            <a:ext cx="4846320" cy="411480"/>
          </a:xfrm>
          <a:prstGeom prst="rect">
            <a:avLst/>
          </a:prstGeom>
          <a:noFill/>
        </p:spPr>
        <p:txBody>
          <a:bodyPr wrap="square">
            <a:spAutoFit/>
          </a:bodyPr>
          <a:lstStyle/>
          <a:p>
            <a:pPr>
              <a:defRPr sz="1300" b="1">
                <a:solidFill>
                  <a:srgbClr val="1A365D"/>
                </a:solidFill>
                <a:latin typeface="Segoe UI"/>
              </a:defRPr>
            </a:pPr>
            <a:r>
              <a:t>MỤC TIÊU ĐỀ TÀI</a:t>
            </a:r>
          </a:p>
        </p:txBody>
      </p:sp>
      <p:sp>
        <p:nvSpPr>
          <p:cNvPr id="8" name="TextBox 7"/>
          <p:cNvSpPr txBox="1"/>
          <p:nvPr/>
        </p:nvSpPr>
        <p:spPr>
          <a:xfrm>
            <a:off x="914400" y="2011680"/>
            <a:ext cx="4754880" cy="4114800"/>
          </a:xfrm>
          <a:prstGeom prst="rect">
            <a:avLst/>
          </a:prstGeom>
          <a:noFill/>
        </p:spPr>
        <p:txBody>
          <a:bodyPr wrap="square">
            <a:spAutoFit/>
          </a:bodyPr>
          <a:lstStyle/>
          <a:p>
            <a:pPr>
              <a:lnSpc>
                <a:spcPct val="125000"/>
              </a:lnSpc>
              <a:defRPr sz="1150">
                <a:solidFill>
                  <a:srgbClr val="2D3748"/>
                </a:solidFill>
                <a:latin typeface="Segoe UI"/>
              </a:defRPr>
            </a:pPr>
            <a:r>
              <a:t>• Xây dựng ứng dụng di động hoàn chỉnh bằng Flutter với 100% giao diện tiếng Việt chuẩn mực.</a:t>
            </a:r>
            <a:br/>
          </a:p>
          <a:p>
            <a:pPr>
              <a:lnSpc>
                <a:spcPct val="125000"/>
              </a:lnSpc>
              <a:defRPr sz="1150">
                <a:solidFill>
                  <a:srgbClr val="2D3748"/>
                </a:solidFill>
                <a:latin typeface="Segoe UI"/>
              </a:defRPr>
            </a:pPr>
            <a:r>
              <a:t>• Thiết kế cơ sở dữ liệu quan hệ đồng nhất trên PostgreSQL (Supabase), chuẩn hóa mã căn hộ A0110.</a:t>
            </a:r>
            <a:br/>
          </a:p>
          <a:p>
            <a:pPr>
              <a:lnSpc>
                <a:spcPct val="125000"/>
              </a:lnSpc>
              <a:defRPr sz="1150">
                <a:solidFill>
                  <a:srgbClr val="2D3748"/>
                </a:solidFill>
                <a:latin typeface="Segoe UI"/>
              </a:defRPr>
            </a:pPr>
            <a:r>
              <a:t>• Thiết lập cơ chế phòng thủ ba lớp chống leo thang đặc quyền và bảo đảm toàn vẹn tài chính cấp máy chủ.</a:t>
            </a:r>
            <a:br/>
          </a:p>
          <a:p>
            <a:pPr>
              <a:lnSpc>
                <a:spcPct val="125000"/>
              </a:lnSpc>
              <a:defRPr sz="1150">
                <a:solidFill>
                  <a:srgbClr val="2D3748"/>
                </a:solidFill>
                <a:latin typeface="Segoe UI"/>
              </a:defRPr>
            </a:pPr>
            <a:r>
              <a:t>• Hiện thực hóa quy trình nghiệp vụ tự động: lập hóa đơn hàng loạt, duyệt chỉ số, quản lý sức chứa tiện ích.</a:t>
            </a:r>
            <a:br/>
          </a:p>
          <a:p>
            <a:pPr>
              <a:lnSpc>
                <a:spcPct val="125000"/>
              </a:lnSpc>
              <a:defRPr sz="1150">
                <a:solidFill>
                  <a:srgbClr val="2D3748"/>
                </a:solidFill>
                <a:latin typeface="Segoe UI"/>
              </a:defRPr>
            </a:pPr>
            <a:r>
              <a:t>• Xây dựng bộ kiểm thử tự động toàn diện kiểm chứng độ tin cậy của phần mềm trước khi nghiệm thu.</a:t>
            </a:r>
            <a:br/>
          </a:p>
        </p:txBody>
      </p:sp>
      <p:sp>
        <p:nvSpPr>
          <p:cNvPr id="9" name="Rounded Rectangle 8"/>
          <p:cNvSpPr/>
          <p:nvPr/>
        </p:nvSpPr>
        <p:spPr>
          <a:xfrm>
            <a:off x="6217920" y="1371600"/>
            <a:ext cx="5212080" cy="4937760"/>
          </a:xfrm>
          <a:prstGeom prst="roundRect">
            <a:avLst/>
          </a:prstGeom>
          <a:solidFill>
            <a:srgbClr val="FFFFFF"/>
          </a:solidFill>
          <a:ln w="19050">
            <a:solidFill>
              <a:srgbClr val="DD6B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481328"/>
            <a:ext cx="4937760" cy="411480"/>
          </a:xfrm>
          <a:prstGeom prst="rect">
            <a:avLst/>
          </a:prstGeom>
          <a:noFill/>
        </p:spPr>
        <p:txBody>
          <a:bodyPr wrap="square">
            <a:spAutoFit/>
          </a:bodyPr>
          <a:lstStyle/>
          <a:p>
            <a:pPr>
              <a:defRPr sz="1300" b="1">
                <a:solidFill>
                  <a:srgbClr val="1A365D"/>
                </a:solidFill>
                <a:latin typeface="Segoe UI"/>
              </a:defRPr>
            </a:pPr>
            <a:r>
              <a:t>PHẠM VI THỰC HIỆN</a:t>
            </a:r>
          </a:p>
        </p:txBody>
      </p:sp>
      <p:sp>
        <p:nvSpPr>
          <p:cNvPr id="11" name="TextBox 10"/>
          <p:cNvSpPr txBox="1"/>
          <p:nvPr/>
        </p:nvSpPr>
        <p:spPr>
          <a:xfrm>
            <a:off x="6400800" y="2011680"/>
            <a:ext cx="4846320" cy="4114800"/>
          </a:xfrm>
          <a:prstGeom prst="rect">
            <a:avLst/>
          </a:prstGeom>
          <a:noFill/>
        </p:spPr>
        <p:txBody>
          <a:bodyPr wrap="square">
            <a:spAutoFit/>
          </a:bodyPr>
          <a:lstStyle/>
          <a:p>
            <a:pPr>
              <a:lnSpc>
                <a:spcPct val="125000"/>
              </a:lnSpc>
              <a:defRPr sz="1150">
                <a:solidFill>
                  <a:srgbClr val="2D3748"/>
                </a:solidFill>
                <a:latin typeface="Segoe UI"/>
              </a:defRPr>
            </a:pPr>
            <a:r>
              <a:t>• Nền tảng mục tiêu: Tập trung phát triển và tối ưu hóa trải nghiệm trên thiết bị di động Android phục vụ bảo vệ đồ án.</a:t>
            </a:r>
            <a:br/>
          </a:p>
          <a:p>
            <a:pPr>
              <a:lnSpc>
                <a:spcPct val="125000"/>
              </a:lnSpc>
              <a:defRPr sz="1150">
                <a:solidFill>
                  <a:srgbClr val="2D3748"/>
                </a:solidFill>
                <a:latin typeface="Segoe UI"/>
              </a:defRPr>
            </a:pPr>
            <a:r>
              <a:t>• Quy trình tài chính: Cung cấp cổng thanh toán mô phỏng khép kín (VietQR mô phỏng, nộp ủy nhiệm chi xác nhận 2 bước, thu tiền mặt tại quầy), không chuyển tiền ngân hàng thật.</a:t>
            </a:r>
            <a:br/>
          </a:p>
          <a:p>
            <a:pPr>
              <a:lnSpc>
                <a:spcPct val="125000"/>
              </a:lnSpc>
              <a:defRPr sz="1150">
                <a:solidFill>
                  <a:srgbClr val="2D3748"/>
                </a:solidFill>
                <a:latin typeface="Segoe UI"/>
              </a:defRPr>
            </a:pPr>
            <a:r>
              <a:t>• Chỉ số điện nước: Bao gồm chức năng nộp chỉ số kèm ảnh chụp công tơ thực tế và thẩm định số đo của kế toán.</a:t>
            </a:r>
            <a:br/>
          </a:p>
          <a:p>
            <a:pPr>
              <a:lnSpc>
                <a:spcPct val="125000"/>
              </a:lnSpc>
              <a:defRPr sz="1150">
                <a:solidFill>
                  <a:srgbClr val="2D3748"/>
                </a:solidFill>
                <a:latin typeface="Segoe UI"/>
              </a:defRPr>
            </a:pPr>
            <a:r>
              <a:t>• Môi trường kiểm thử: Sử dụng bộ tài khoản dữ liệu mẫu đã được nạp sẵn và đồng bộ an toàn trên Supabase.</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9144000" cy="274320"/>
          </a:xfrm>
          <a:prstGeom prst="rect">
            <a:avLst/>
          </a:prstGeom>
          <a:noFill/>
        </p:spPr>
        <p:txBody>
          <a:bodyPr wrap="square">
            <a:spAutoFit/>
          </a:bodyPr>
          <a:lstStyle/>
          <a:p>
            <a:pPr>
              <a:defRPr sz="950" b="1">
                <a:solidFill>
                  <a:srgbClr val="3182CE"/>
                </a:solidFill>
                <a:latin typeface="Segoe UI"/>
              </a:defRPr>
            </a:pPr>
            <a:r>
              <a:t>ĐỒ ÁN LIÊN NGÀNH - TRƯỜNG CÔNG NGHỆ THÔNG TIN</a:t>
            </a:r>
          </a:p>
        </p:txBody>
      </p:sp>
      <p:sp>
        <p:nvSpPr>
          <p:cNvPr id="4" name="TextBox 3"/>
          <p:cNvSpPr txBox="1"/>
          <p:nvPr/>
        </p:nvSpPr>
        <p:spPr>
          <a:xfrm>
            <a:off x="731520" y="384048"/>
            <a:ext cx="10515600" cy="594360"/>
          </a:xfrm>
          <a:prstGeom prst="rect">
            <a:avLst/>
          </a:prstGeom>
          <a:noFill/>
        </p:spPr>
        <p:txBody>
          <a:bodyPr wrap="square">
            <a:spAutoFit/>
          </a:bodyPr>
          <a:lstStyle/>
          <a:p>
            <a:pPr>
              <a:defRPr sz="2200" b="1">
                <a:solidFill>
                  <a:srgbClr val="FFFFFF"/>
                </a:solidFill>
                <a:latin typeface="Segoe UI"/>
              </a:defRPr>
            </a:pPr>
            <a:r>
              <a:t>MÔ HÌNH PHÂN QUYỀN ĐA VAI TRÒ (ENTERPRISE RBAC)</a:t>
            </a:r>
          </a:p>
        </p:txBody>
      </p:sp>
      <p:sp>
        <p:nvSpPr>
          <p:cNvPr id="5" name="Rectangle 4"/>
          <p:cNvSpPr/>
          <p:nvPr/>
        </p:nvSpPr>
        <p:spPr>
          <a:xfrm>
            <a:off x="0" y="1051560"/>
            <a:ext cx="12191695" cy="45720"/>
          </a:xfrm>
          <a:prstGeom prst="rect">
            <a:avLst/>
          </a:prstGeom>
          <a:solidFill>
            <a:srgbClr val="DD6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280160"/>
            <a:ext cx="10698480" cy="914400"/>
          </a:xfrm>
          <a:prstGeom prst="roundRect">
            <a:avLst/>
          </a:prstGeom>
          <a:solidFill>
            <a:srgbClr val="FFFFFF"/>
          </a:solidFill>
          <a:ln w="19050">
            <a:solidFill>
              <a:srgbClr val="318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71600"/>
            <a:ext cx="10332720" cy="731520"/>
          </a:xfrm>
          <a:prstGeom prst="rect">
            <a:avLst/>
          </a:prstGeom>
          <a:noFill/>
        </p:spPr>
        <p:txBody>
          <a:bodyPr wrap="square">
            <a:spAutoFit/>
          </a:bodyPr>
          <a:lstStyle/>
          <a:p>
            <a:pPr>
              <a:defRPr sz="1200" b="1">
                <a:solidFill>
                  <a:srgbClr val="3182CE"/>
                </a:solidFill>
                <a:latin typeface="Segoe UI"/>
              </a:defRPr>
            </a:pPr>
            <a:r>
              <a:t>CƯ DÂN (RESIDENT)</a:t>
            </a:r>
          </a:p>
          <a:p>
            <a:pPr>
              <a:defRPr sz="1050">
                <a:solidFill>
                  <a:srgbClr val="2D3748"/>
                </a:solidFill>
                <a:latin typeface="Segoe UI"/>
              </a:defRPr>
            </a:pPr>
            <a:r>
              <a:t>Xem hóa đơn căn hộ mình, thanh toán mô phỏng, gửi phản ánh sự cố, đặt tiện ích, đăng ký xe máy, ô tô.</a:t>
            </a:r>
          </a:p>
        </p:txBody>
      </p:sp>
      <p:sp>
        <p:nvSpPr>
          <p:cNvPr id="8" name="Rounded Rectangle 7"/>
          <p:cNvSpPr/>
          <p:nvPr/>
        </p:nvSpPr>
        <p:spPr>
          <a:xfrm>
            <a:off x="731520" y="2331720"/>
            <a:ext cx="10698480" cy="914400"/>
          </a:xfrm>
          <a:prstGeom prst="roundRect">
            <a:avLst/>
          </a:prstGeom>
          <a:solidFill>
            <a:srgbClr val="FFFFFF"/>
          </a:solidFill>
          <a:ln w="1905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23160"/>
            <a:ext cx="10332720" cy="731520"/>
          </a:xfrm>
          <a:prstGeom prst="rect">
            <a:avLst/>
          </a:prstGeom>
          <a:noFill/>
        </p:spPr>
        <p:txBody>
          <a:bodyPr wrap="square">
            <a:spAutoFit/>
          </a:bodyPr>
          <a:lstStyle/>
          <a:p>
            <a:pPr>
              <a:defRPr sz="1200" b="1">
                <a:solidFill>
                  <a:srgbClr val="1A365D"/>
                </a:solidFill>
                <a:latin typeface="Segoe UI"/>
              </a:defRPr>
            </a:pPr>
            <a:r>
              <a:t>BAN QUẢN LÝ (MANAGEMENT)</a:t>
            </a:r>
          </a:p>
          <a:p>
            <a:pPr>
              <a:defRPr sz="1050">
                <a:solidFill>
                  <a:srgbClr val="2D3748"/>
                </a:solidFill>
                <a:latin typeface="Segoe UI"/>
              </a:defRPr>
            </a:pPr>
            <a:r>
              <a:t>Quản lý căn hộ, phê duyệt liên kết, điều phối sự cố, duyệt phương tiện, phát thông báo diện rộng.</a:t>
            </a:r>
          </a:p>
        </p:txBody>
      </p:sp>
      <p:sp>
        <p:nvSpPr>
          <p:cNvPr id="10" name="Rounded Rectangle 9"/>
          <p:cNvSpPr/>
          <p:nvPr/>
        </p:nvSpPr>
        <p:spPr>
          <a:xfrm>
            <a:off x="731520" y="3383279"/>
            <a:ext cx="10698480" cy="914400"/>
          </a:xfrm>
          <a:prstGeom prst="roundRect">
            <a:avLst/>
          </a:prstGeom>
          <a:solidFill>
            <a:srgbClr val="FFFFFF"/>
          </a:solidFill>
          <a:ln w="19050">
            <a:solidFill>
              <a:srgbClr val="38A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474719"/>
            <a:ext cx="10332720" cy="731520"/>
          </a:xfrm>
          <a:prstGeom prst="rect">
            <a:avLst/>
          </a:prstGeom>
          <a:noFill/>
        </p:spPr>
        <p:txBody>
          <a:bodyPr wrap="square">
            <a:spAutoFit/>
          </a:bodyPr>
          <a:lstStyle/>
          <a:p>
            <a:pPr>
              <a:defRPr sz="1200" b="1">
                <a:solidFill>
                  <a:srgbClr val="38A169"/>
                </a:solidFill>
                <a:latin typeface="Segoe UI"/>
              </a:defRPr>
            </a:pPr>
            <a:r>
              <a:t>KẾ TOÁN (ACCOUNTANT)</a:t>
            </a:r>
          </a:p>
          <a:p>
            <a:pPr>
              <a:defRPr sz="1050">
                <a:solidFill>
                  <a:srgbClr val="2D3748"/>
                </a:solidFill>
                <a:latin typeface="Segoe UI"/>
              </a:defRPr>
            </a:pPr>
            <a:r>
              <a:t>Thẩm định chỉ số điện nước, lập hóa đơn đơn lẻ &amp; hàng loạt, xác nhận thanh toán, thu tiền mặt tại quầy.</a:t>
            </a:r>
          </a:p>
        </p:txBody>
      </p:sp>
      <p:sp>
        <p:nvSpPr>
          <p:cNvPr id="12" name="Rounded Rectangle 11"/>
          <p:cNvSpPr/>
          <p:nvPr/>
        </p:nvSpPr>
        <p:spPr>
          <a:xfrm>
            <a:off x="731520" y="4434840"/>
            <a:ext cx="10698480" cy="914400"/>
          </a:xfrm>
          <a:prstGeom prst="roundRect">
            <a:avLst/>
          </a:prstGeom>
          <a:solidFill>
            <a:srgbClr val="FFFFFF"/>
          </a:solidFill>
          <a:ln w="19050">
            <a:solidFill>
              <a:srgbClr val="DD6B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526280"/>
            <a:ext cx="10332720" cy="731520"/>
          </a:xfrm>
          <a:prstGeom prst="rect">
            <a:avLst/>
          </a:prstGeom>
          <a:noFill/>
        </p:spPr>
        <p:txBody>
          <a:bodyPr wrap="square">
            <a:spAutoFit/>
          </a:bodyPr>
          <a:lstStyle/>
          <a:p>
            <a:pPr>
              <a:defRPr sz="1200" b="1">
                <a:solidFill>
                  <a:srgbClr val="DD6B20"/>
                </a:solidFill>
                <a:latin typeface="Segoe UI"/>
              </a:defRPr>
            </a:pPr>
            <a:r>
              <a:t>KỸ THUẬT VIÊN (TECHNICIAN)</a:t>
            </a:r>
          </a:p>
          <a:p>
            <a:pPr>
              <a:defRPr sz="1050">
                <a:solidFill>
                  <a:srgbClr val="2D3748"/>
                </a:solidFill>
                <a:latin typeface="Segoe UI"/>
              </a:defRPr>
            </a:pPr>
            <a:r>
              <a:t>Tiếp nhận phiếu sự cố được giao, cập nhật tiến độ, ảnh chụp nghiệm thu sửa chữa và trao đổi với cư dân.</a:t>
            </a:r>
          </a:p>
        </p:txBody>
      </p:sp>
      <p:sp>
        <p:nvSpPr>
          <p:cNvPr id="14" name="Rounded Rectangle 13"/>
          <p:cNvSpPr/>
          <p:nvPr/>
        </p:nvSpPr>
        <p:spPr>
          <a:xfrm>
            <a:off x="731520" y="5486400"/>
            <a:ext cx="10698480" cy="914400"/>
          </a:xfrm>
          <a:prstGeom prst="roundRect">
            <a:avLst/>
          </a:prstGeom>
          <a:solidFill>
            <a:srgbClr val="FFFFFF"/>
          </a:solidFill>
          <a:ln w="19050">
            <a:solidFill>
              <a:srgbClr val="805A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577840"/>
            <a:ext cx="10332720" cy="731520"/>
          </a:xfrm>
          <a:prstGeom prst="rect">
            <a:avLst/>
          </a:prstGeom>
          <a:noFill/>
        </p:spPr>
        <p:txBody>
          <a:bodyPr wrap="square">
            <a:spAutoFit/>
          </a:bodyPr>
          <a:lstStyle/>
          <a:p>
            <a:pPr>
              <a:defRPr sz="1200" b="1">
                <a:solidFill>
                  <a:srgbClr val="805AD5"/>
                </a:solidFill>
                <a:latin typeface="Segoe UI"/>
              </a:defRPr>
            </a:pPr>
            <a:r>
              <a:t>QUẢN TRỊ VIÊN (ADMIN)</a:t>
            </a:r>
          </a:p>
          <a:p>
            <a:pPr>
              <a:defRPr sz="1050">
                <a:solidFill>
                  <a:srgbClr val="2D3748"/>
                </a:solidFill>
                <a:latin typeface="Segoe UI"/>
              </a:defRPr>
            </a:pPr>
            <a:r>
              <a:t>Toàn quyền quản trị cấu hình hệ thống, phân quyền vai trò, ủy quyền nhiệm vụ và theo dõi nhật ký kiểm toán.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9144000" cy="274320"/>
          </a:xfrm>
          <a:prstGeom prst="rect">
            <a:avLst/>
          </a:prstGeom>
          <a:noFill/>
        </p:spPr>
        <p:txBody>
          <a:bodyPr wrap="square">
            <a:spAutoFit/>
          </a:bodyPr>
          <a:lstStyle/>
          <a:p>
            <a:pPr>
              <a:defRPr sz="950" b="1">
                <a:solidFill>
                  <a:srgbClr val="3182CE"/>
                </a:solidFill>
                <a:latin typeface="Segoe UI"/>
              </a:defRPr>
            </a:pPr>
            <a:r>
              <a:t>ĐỒ ÁN LIÊN NGÀNH - TRƯỜNG CÔNG NGHỆ THÔNG TIN</a:t>
            </a:r>
          </a:p>
        </p:txBody>
      </p:sp>
      <p:sp>
        <p:nvSpPr>
          <p:cNvPr id="4" name="TextBox 3"/>
          <p:cNvSpPr txBox="1"/>
          <p:nvPr/>
        </p:nvSpPr>
        <p:spPr>
          <a:xfrm>
            <a:off x="731520" y="384048"/>
            <a:ext cx="10515600" cy="594360"/>
          </a:xfrm>
          <a:prstGeom prst="rect">
            <a:avLst/>
          </a:prstGeom>
          <a:noFill/>
        </p:spPr>
        <p:txBody>
          <a:bodyPr wrap="square">
            <a:spAutoFit/>
          </a:bodyPr>
          <a:lstStyle/>
          <a:p>
            <a:pPr>
              <a:defRPr sz="2200" b="1">
                <a:solidFill>
                  <a:srgbClr val="FFFFFF"/>
                </a:solidFill>
                <a:latin typeface="Segoe UI"/>
              </a:defRPr>
            </a:pPr>
            <a:r>
              <a:t>SƠ ĐỒ NGỮ CẢNH VÀ PHẠM VI HỆ THỐNG</a:t>
            </a:r>
          </a:p>
        </p:txBody>
      </p:sp>
      <p:sp>
        <p:nvSpPr>
          <p:cNvPr id="5" name="Rectangle 4"/>
          <p:cNvSpPr/>
          <p:nvPr/>
        </p:nvSpPr>
        <p:spPr>
          <a:xfrm>
            <a:off x="0" y="1051560"/>
            <a:ext cx="12191695" cy="45720"/>
          </a:xfrm>
          <a:prstGeom prst="rect">
            <a:avLst/>
          </a:prstGeom>
          <a:solidFill>
            <a:srgbClr val="DD6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2.png"/>
          <p:cNvPicPr>
            <a:picLocks noChangeAspect="1"/>
          </p:cNvPicPr>
          <p:nvPr/>
        </p:nvPicPr>
        <p:blipFill>
          <a:blip r:embed="rId2"/>
          <a:stretch>
            <a:fillRect/>
          </a:stretch>
        </p:blipFill>
        <p:spPr>
          <a:xfrm>
            <a:off x="914400" y="1280160"/>
            <a:ext cx="6583680" cy="4438855"/>
          </a:xfrm>
          <a:prstGeom prst="rect">
            <a:avLst/>
          </a:prstGeom>
        </p:spPr>
      </p:pic>
      <p:sp>
        <p:nvSpPr>
          <p:cNvPr id="7" name="Rounded Rectangle 6"/>
          <p:cNvSpPr/>
          <p:nvPr/>
        </p:nvSpPr>
        <p:spPr>
          <a:xfrm>
            <a:off x="7772400" y="1280160"/>
            <a:ext cx="3657600" cy="5029200"/>
          </a:xfrm>
          <a:prstGeom prst="roundRect">
            <a:avLst/>
          </a:prstGeom>
          <a:solidFill>
            <a:srgbClr val="FFFFFF"/>
          </a:solidFill>
          <a:ln w="19050">
            <a:solidFill>
              <a:srgbClr val="318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9560" y="1389888"/>
            <a:ext cx="3383280" cy="411480"/>
          </a:xfrm>
          <a:prstGeom prst="rect">
            <a:avLst/>
          </a:prstGeom>
          <a:noFill/>
        </p:spPr>
        <p:txBody>
          <a:bodyPr wrap="square">
            <a:spAutoFit/>
          </a:bodyPr>
          <a:lstStyle/>
          <a:p>
            <a:pPr>
              <a:defRPr sz="1300" b="1">
                <a:solidFill>
                  <a:srgbClr val="1A365D"/>
                </a:solidFill>
                <a:latin typeface="Segoe UI"/>
              </a:defRPr>
            </a:pPr>
            <a:r>
              <a:t>ĐẶC ĐIỂM NGỮ CẢNH</a:t>
            </a:r>
          </a:p>
        </p:txBody>
      </p:sp>
      <p:sp>
        <p:nvSpPr>
          <p:cNvPr id="9" name="TextBox 8"/>
          <p:cNvSpPr txBox="1"/>
          <p:nvPr/>
        </p:nvSpPr>
        <p:spPr>
          <a:xfrm>
            <a:off x="7955279" y="1920240"/>
            <a:ext cx="3291840" cy="4114800"/>
          </a:xfrm>
          <a:prstGeom prst="rect">
            <a:avLst/>
          </a:prstGeom>
          <a:noFill/>
        </p:spPr>
        <p:txBody>
          <a:bodyPr wrap="square">
            <a:spAutoFit/>
          </a:bodyPr>
          <a:lstStyle/>
          <a:p>
            <a:pPr>
              <a:defRPr sz="1050">
                <a:solidFill>
                  <a:srgbClr val="2D3748"/>
                </a:solidFill>
                <a:latin typeface="Segoe UI"/>
              </a:defRPr>
            </a:pPr>
            <a:r>
              <a:t>• Hạt nhân PKA-Home: Tiếp nhận và xử lý tập trung mọi nghiệp vụ cư dân, tài chính, tiện ích, phương tiện và sự cố.</a:t>
            </a:r>
            <a:br/>
          </a:p>
          <a:p>
            <a:pPr>
              <a:defRPr sz="1050">
                <a:solidFill>
                  <a:srgbClr val="2D3748"/>
                </a:solidFill>
                <a:latin typeface="Segoe UI"/>
              </a:defRPr>
            </a:pPr>
            <a:r>
              <a:t>• Tương tác hai chiều: Cư dân gửi yêu cầu - Bộ phận vận hành phê duyệt và phản hồi kết quả.</a:t>
            </a:r>
            <a:br/>
          </a:p>
          <a:p>
            <a:pPr>
              <a:defRPr sz="1050">
                <a:solidFill>
                  <a:srgbClr val="2D3748"/>
                </a:solidFill>
                <a:latin typeface="Segoe UI"/>
              </a:defRPr>
            </a:pPr>
            <a:r>
              <a:t>• Tích hợp dịch vụ Email: Cung cấp mã xác thực OTP phục vụ khôi phục mật khẩu.</a:t>
            </a:r>
            <a:br/>
          </a:p>
          <a:p>
            <a:pPr>
              <a:defRPr sz="1050">
                <a:solidFill>
                  <a:srgbClr val="2D3748"/>
                </a:solidFill>
                <a:latin typeface="Segoe UI"/>
              </a:defRPr>
            </a:pPr>
            <a:r>
              <a:t>• Thông báo đẩy FCM: Gửi tin tức khẩn cấp tới thiết bị người dùng.</a:t>
            </a:r>
            <a:br/>
          </a:p>
          <a:p>
            <a:pPr>
              <a:defRPr sz="1050">
                <a:solidFill>
                  <a:srgbClr val="2D3748"/>
                </a:solidFill>
                <a:latin typeface="Segoe UI"/>
              </a:defRPr>
            </a:pPr>
            <a:r>
              <a:t>• Vùng lưu trữ Storage: Quản lý hình ảnh sự cố và ủy nhiệm chi riêng tư.</a:t>
            </a:r>
            <a:b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9144000" cy="274320"/>
          </a:xfrm>
          <a:prstGeom prst="rect">
            <a:avLst/>
          </a:prstGeom>
          <a:noFill/>
        </p:spPr>
        <p:txBody>
          <a:bodyPr wrap="square">
            <a:spAutoFit/>
          </a:bodyPr>
          <a:lstStyle/>
          <a:p>
            <a:pPr>
              <a:defRPr sz="950" b="1">
                <a:solidFill>
                  <a:srgbClr val="3182CE"/>
                </a:solidFill>
                <a:latin typeface="Segoe UI"/>
              </a:defRPr>
            </a:pPr>
            <a:r>
              <a:t>ĐỒ ÁN LIÊN NGÀNH - TRƯỜNG CÔNG NGHỆ THÔNG TIN</a:t>
            </a:r>
          </a:p>
        </p:txBody>
      </p:sp>
      <p:sp>
        <p:nvSpPr>
          <p:cNvPr id="4" name="TextBox 3"/>
          <p:cNvSpPr txBox="1"/>
          <p:nvPr/>
        </p:nvSpPr>
        <p:spPr>
          <a:xfrm>
            <a:off x="731520" y="384048"/>
            <a:ext cx="10515600" cy="594360"/>
          </a:xfrm>
          <a:prstGeom prst="rect">
            <a:avLst/>
          </a:prstGeom>
          <a:noFill/>
        </p:spPr>
        <p:txBody>
          <a:bodyPr wrap="square">
            <a:spAutoFit/>
          </a:bodyPr>
          <a:lstStyle/>
          <a:p>
            <a:pPr>
              <a:defRPr sz="2200" b="1">
                <a:solidFill>
                  <a:srgbClr val="FFFFFF"/>
                </a:solidFill>
                <a:latin typeface="Segoe UI"/>
              </a:defRPr>
            </a:pPr>
            <a:r>
              <a:t>SƠ ĐỒ CA SỬ DỤNG CHI TIẾT THEO PHÂN HỆ</a:t>
            </a:r>
          </a:p>
        </p:txBody>
      </p:sp>
      <p:sp>
        <p:nvSpPr>
          <p:cNvPr id="5" name="Rectangle 4"/>
          <p:cNvSpPr/>
          <p:nvPr/>
        </p:nvSpPr>
        <p:spPr>
          <a:xfrm>
            <a:off x="0" y="1051560"/>
            <a:ext cx="12191695" cy="45720"/>
          </a:xfrm>
          <a:prstGeom prst="rect">
            <a:avLst/>
          </a:prstGeom>
          <a:solidFill>
            <a:srgbClr val="DD6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hinh2_2a_use_case_cu_dan.png"/>
          <p:cNvPicPr>
            <a:picLocks noChangeAspect="1"/>
          </p:cNvPicPr>
          <p:nvPr/>
        </p:nvPicPr>
        <p:blipFill>
          <a:blip r:embed="rId2"/>
          <a:stretch>
            <a:fillRect/>
          </a:stretch>
        </p:blipFill>
        <p:spPr>
          <a:xfrm>
            <a:off x="731520" y="1371600"/>
            <a:ext cx="5212080" cy="3263639"/>
          </a:xfrm>
          <a:prstGeom prst="rect">
            <a:avLst/>
          </a:prstGeom>
        </p:spPr>
      </p:pic>
      <p:pic>
        <p:nvPicPr>
          <p:cNvPr id="7" name="Picture 6" descr="hinh2_2b_use_case_ban_quan_ly.png"/>
          <p:cNvPicPr>
            <a:picLocks noChangeAspect="1"/>
          </p:cNvPicPr>
          <p:nvPr/>
        </p:nvPicPr>
        <p:blipFill>
          <a:blip r:embed="rId3"/>
          <a:stretch>
            <a:fillRect/>
          </a:stretch>
        </p:blipFill>
        <p:spPr>
          <a:xfrm>
            <a:off x="6217920" y="1371600"/>
            <a:ext cx="5212080" cy="3615587"/>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9144000" cy="274320"/>
          </a:xfrm>
          <a:prstGeom prst="rect">
            <a:avLst/>
          </a:prstGeom>
          <a:noFill/>
        </p:spPr>
        <p:txBody>
          <a:bodyPr wrap="square">
            <a:spAutoFit/>
          </a:bodyPr>
          <a:lstStyle/>
          <a:p>
            <a:pPr>
              <a:defRPr sz="950" b="1">
                <a:solidFill>
                  <a:srgbClr val="3182CE"/>
                </a:solidFill>
                <a:latin typeface="Segoe UI"/>
              </a:defRPr>
            </a:pPr>
            <a:r>
              <a:t>ĐỒ ÁN LIÊN NGÀNH - TRƯỜNG CÔNG NGHỆ THÔNG TIN</a:t>
            </a:r>
          </a:p>
        </p:txBody>
      </p:sp>
      <p:sp>
        <p:nvSpPr>
          <p:cNvPr id="4" name="TextBox 3"/>
          <p:cNvSpPr txBox="1"/>
          <p:nvPr/>
        </p:nvSpPr>
        <p:spPr>
          <a:xfrm>
            <a:off x="731520" y="384048"/>
            <a:ext cx="10515600" cy="594360"/>
          </a:xfrm>
          <a:prstGeom prst="rect">
            <a:avLst/>
          </a:prstGeom>
          <a:noFill/>
        </p:spPr>
        <p:txBody>
          <a:bodyPr wrap="square">
            <a:spAutoFit/>
          </a:bodyPr>
          <a:lstStyle/>
          <a:p>
            <a:pPr>
              <a:defRPr sz="2200" b="1">
                <a:solidFill>
                  <a:srgbClr val="FFFFFF"/>
                </a:solidFill>
                <a:latin typeface="Segoe UI"/>
              </a:defRPr>
            </a:pPr>
            <a:r>
              <a:t>KIẾN TRÚC PHẦN MỀM PHÂN TẦNG (FEATURE-FIRST)</a:t>
            </a:r>
          </a:p>
        </p:txBody>
      </p:sp>
      <p:sp>
        <p:nvSpPr>
          <p:cNvPr id="5" name="Rectangle 4"/>
          <p:cNvSpPr/>
          <p:nvPr/>
        </p:nvSpPr>
        <p:spPr>
          <a:xfrm>
            <a:off x="0" y="1051560"/>
            <a:ext cx="12191695" cy="45720"/>
          </a:xfrm>
          <a:prstGeom prst="rect">
            <a:avLst/>
          </a:prstGeom>
          <a:solidFill>
            <a:srgbClr val="DD6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4.png"/>
          <p:cNvPicPr>
            <a:picLocks noChangeAspect="1"/>
          </p:cNvPicPr>
          <p:nvPr/>
        </p:nvPicPr>
        <p:blipFill>
          <a:blip r:embed="rId2"/>
          <a:stretch>
            <a:fillRect/>
          </a:stretch>
        </p:blipFill>
        <p:spPr>
          <a:xfrm>
            <a:off x="731520" y="1371600"/>
            <a:ext cx="6217920" cy="4207877"/>
          </a:xfrm>
          <a:prstGeom prst="rect">
            <a:avLst/>
          </a:prstGeom>
        </p:spPr>
      </p:pic>
      <p:sp>
        <p:nvSpPr>
          <p:cNvPr id="7" name="Rounded Rectangle 6"/>
          <p:cNvSpPr/>
          <p:nvPr/>
        </p:nvSpPr>
        <p:spPr>
          <a:xfrm>
            <a:off x="7223760" y="1371600"/>
            <a:ext cx="4206240" cy="5029200"/>
          </a:xfrm>
          <a:prstGeom prst="roundRect">
            <a:avLst/>
          </a:prstGeom>
          <a:solidFill>
            <a:srgbClr val="FFFFFF"/>
          </a:solidFill>
          <a:ln w="19050">
            <a:solidFill>
              <a:srgbClr val="318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60920" y="1481328"/>
            <a:ext cx="3931920" cy="411480"/>
          </a:xfrm>
          <a:prstGeom prst="rect">
            <a:avLst/>
          </a:prstGeom>
          <a:noFill/>
        </p:spPr>
        <p:txBody>
          <a:bodyPr wrap="square">
            <a:spAutoFit/>
          </a:bodyPr>
          <a:lstStyle/>
          <a:p>
            <a:pPr>
              <a:defRPr sz="1300" b="1">
                <a:solidFill>
                  <a:srgbClr val="1A365D"/>
                </a:solidFill>
                <a:latin typeface="Segoe UI"/>
              </a:defRPr>
            </a:pPr>
            <a:r>
              <a:t>ƯU ĐIỂM KIẾN TRÚC</a:t>
            </a:r>
          </a:p>
        </p:txBody>
      </p:sp>
      <p:sp>
        <p:nvSpPr>
          <p:cNvPr id="9" name="TextBox 8"/>
          <p:cNvSpPr txBox="1"/>
          <p:nvPr/>
        </p:nvSpPr>
        <p:spPr>
          <a:xfrm>
            <a:off x="7406640" y="1920240"/>
            <a:ext cx="3840480" cy="4114800"/>
          </a:xfrm>
          <a:prstGeom prst="rect">
            <a:avLst/>
          </a:prstGeom>
          <a:noFill/>
        </p:spPr>
        <p:txBody>
          <a:bodyPr wrap="square">
            <a:spAutoFit/>
          </a:bodyPr>
          <a:lstStyle/>
          <a:p>
            <a:pPr>
              <a:defRPr sz="1100">
                <a:solidFill>
                  <a:srgbClr val="2D3748"/>
                </a:solidFill>
                <a:latin typeface="Segoe UI"/>
              </a:defRPr>
            </a:pPr>
            <a:r>
              <a:t>• Kiến trúc Feature-first: Nhóm mã nguồn theo tính năng nghiệp vụ, dễ bảo trì và phân định trách nhiệm.</a:t>
            </a:r>
            <a:br/>
          </a:p>
          <a:p>
            <a:pPr>
              <a:defRPr sz="1100">
                <a:solidFill>
                  <a:srgbClr val="2D3748"/>
                </a:solidFill>
                <a:latin typeface="Segoe UI"/>
              </a:defRPr>
            </a:pPr>
            <a:r>
              <a:t>• Tầng Trình diễn (UI): Flutter widgets hỗ trợ co giãn linh hoạt, không tràn màn hình trên thiết bị 360dp.</a:t>
            </a:r>
            <a:br/>
          </a:p>
          <a:p>
            <a:pPr>
              <a:defRPr sz="1100">
                <a:solidFill>
                  <a:srgbClr val="2D3748"/>
                </a:solidFill>
                <a:latin typeface="Segoe UI"/>
              </a:defRPr>
            </a:pPr>
            <a:r>
              <a:t>• Tầng Trạng thái: Riverpod providers quản lý vòng đời bất đồng bộ, nạp và tự động làm mới dữ liệu.</a:t>
            </a:r>
            <a:br/>
          </a:p>
          <a:p>
            <a:pPr>
              <a:defRPr sz="1100">
                <a:solidFill>
                  <a:srgbClr val="2D3748"/>
                </a:solidFill>
                <a:latin typeface="Segoe UI"/>
              </a:defRPr>
            </a:pPr>
            <a:r>
              <a:t>• Tầng Dữ liệu: Lớp Repositories đóng gói toàn bộ logic gọi mạng và ánh xạ Model chuyển đổi JSON.</a:t>
            </a:r>
            <a:br/>
          </a:p>
          <a:p>
            <a:pPr>
              <a:defRPr sz="1100">
                <a:solidFill>
                  <a:srgbClr val="2D3748"/>
                </a:solidFill>
                <a:latin typeface="Segoe UI"/>
              </a:defRPr>
            </a:pPr>
            <a:r>
              <a:t>• Tầng Máy chủ (Supabase): Thực thi RLS, trigger và hàm thủ tục lưu trữ an toàn.</a:t>
            </a:r>
            <a:b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9144000" cy="274320"/>
          </a:xfrm>
          <a:prstGeom prst="rect">
            <a:avLst/>
          </a:prstGeom>
          <a:noFill/>
        </p:spPr>
        <p:txBody>
          <a:bodyPr wrap="square">
            <a:spAutoFit/>
          </a:bodyPr>
          <a:lstStyle/>
          <a:p>
            <a:pPr>
              <a:defRPr sz="950" b="1">
                <a:solidFill>
                  <a:srgbClr val="3182CE"/>
                </a:solidFill>
                <a:latin typeface="Segoe UI"/>
              </a:defRPr>
            </a:pPr>
            <a:r>
              <a:t>ĐỒ ÁN LIÊN NGÀNH - TRƯỜNG CÔNG NGHỆ THÔNG TIN</a:t>
            </a:r>
          </a:p>
        </p:txBody>
      </p:sp>
      <p:sp>
        <p:nvSpPr>
          <p:cNvPr id="4" name="TextBox 3"/>
          <p:cNvSpPr txBox="1"/>
          <p:nvPr/>
        </p:nvSpPr>
        <p:spPr>
          <a:xfrm>
            <a:off x="731520" y="384048"/>
            <a:ext cx="10515600" cy="594360"/>
          </a:xfrm>
          <a:prstGeom prst="rect">
            <a:avLst/>
          </a:prstGeom>
          <a:noFill/>
        </p:spPr>
        <p:txBody>
          <a:bodyPr wrap="square">
            <a:spAutoFit/>
          </a:bodyPr>
          <a:lstStyle/>
          <a:p>
            <a:pPr>
              <a:defRPr sz="2200" b="1">
                <a:solidFill>
                  <a:srgbClr val="FFFFFF"/>
                </a:solidFill>
                <a:latin typeface="Segoe UI"/>
              </a:defRPr>
            </a:pPr>
            <a:r>
              <a:t>THIẾT KẾ CƠ SỞ DỮ LIỆU QUAN HỆ (ERD)</a:t>
            </a:r>
          </a:p>
        </p:txBody>
      </p:sp>
      <p:sp>
        <p:nvSpPr>
          <p:cNvPr id="5" name="Rectangle 4"/>
          <p:cNvSpPr/>
          <p:nvPr/>
        </p:nvSpPr>
        <p:spPr>
          <a:xfrm>
            <a:off x="0" y="1051560"/>
            <a:ext cx="12191695" cy="45720"/>
          </a:xfrm>
          <a:prstGeom prst="rect">
            <a:avLst/>
          </a:prstGeom>
          <a:solidFill>
            <a:srgbClr val="DD6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7.png"/>
          <p:cNvPicPr>
            <a:picLocks noChangeAspect="1"/>
          </p:cNvPicPr>
          <p:nvPr/>
        </p:nvPicPr>
        <p:blipFill>
          <a:blip r:embed="rId2"/>
          <a:stretch>
            <a:fillRect/>
          </a:stretch>
        </p:blipFill>
        <p:spPr>
          <a:xfrm>
            <a:off x="731520" y="1371600"/>
            <a:ext cx="6583680" cy="3202648"/>
          </a:xfrm>
          <a:prstGeom prst="rect">
            <a:avLst/>
          </a:prstGeom>
        </p:spPr>
      </p:pic>
      <p:sp>
        <p:nvSpPr>
          <p:cNvPr id="7" name="Rounded Rectangle 6"/>
          <p:cNvSpPr/>
          <p:nvPr/>
        </p:nvSpPr>
        <p:spPr>
          <a:xfrm>
            <a:off x="7589520" y="1371600"/>
            <a:ext cx="3840480" cy="5029200"/>
          </a:xfrm>
          <a:prstGeom prst="roundRect">
            <a:avLst/>
          </a:prstGeom>
          <a:solidFill>
            <a:srgbClr val="FFFFFF"/>
          </a:solidFill>
          <a:ln w="19050">
            <a:solidFill>
              <a:srgbClr val="38A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26680" y="1481328"/>
            <a:ext cx="3566160" cy="411480"/>
          </a:xfrm>
          <a:prstGeom prst="rect">
            <a:avLst/>
          </a:prstGeom>
          <a:noFill/>
        </p:spPr>
        <p:txBody>
          <a:bodyPr wrap="square">
            <a:spAutoFit/>
          </a:bodyPr>
          <a:lstStyle/>
          <a:p>
            <a:pPr>
              <a:defRPr sz="1300" b="1">
                <a:solidFill>
                  <a:srgbClr val="1A365D"/>
                </a:solidFill>
                <a:latin typeface="Segoe UI"/>
              </a:defRPr>
            </a:pPr>
            <a:r>
              <a:t>ĐẶC ĐIỂM DỮ LIỆU</a:t>
            </a:r>
          </a:p>
        </p:txBody>
      </p:sp>
      <p:sp>
        <p:nvSpPr>
          <p:cNvPr id="9" name="TextBox 8"/>
          <p:cNvSpPr txBox="1"/>
          <p:nvPr/>
        </p:nvSpPr>
        <p:spPr>
          <a:xfrm>
            <a:off x="7772400" y="1920240"/>
            <a:ext cx="3474720" cy="4114800"/>
          </a:xfrm>
          <a:prstGeom prst="rect">
            <a:avLst/>
          </a:prstGeom>
          <a:noFill/>
        </p:spPr>
        <p:txBody>
          <a:bodyPr wrap="square">
            <a:spAutoFit/>
          </a:bodyPr>
          <a:lstStyle/>
          <a:p>
            <a:pPr>
              <a:defRPr sz="1100">
                <a:solidFill>
                  <a:srgbClr val="2D3748"/>
                </a:solidFill>
                <a:latin typeface="Segoe UI"/>
              </a:defRPr>
            </a:pPr>
            <a:r>
              <a:t>• 16 bảng quan hệ chuẩn hóa: users, apartments, invoices, meter_reading, vehicles, amenities, issues...</a:t>
            </a:r>
            <a:br/>
          </a:p>
          <a:p>
            <a:pPr>
              <a:defRPr sz="1100">
                <a:solidFill>
                  <a:srgbClr val="2D3748"/>
                </a:solidFill>
                <a:latin typeface="Segoe UI"/>
              </a:defRPr>
            </a:pPr>
            <a:r>
              <a:t>• Định dạng căn hộ A0110: Mã phòng cấu trúc Block + Tầng (2 số) + Phòng (2 số).</a:t>
            </a:r>
            <a:br/>
          </a:p>
          <a:p>
            <a:pPr>
              <a:defRPr sz="1100">
                <a:solidFill>
                  <a:srgbClr val="2D3748"/>
                </a:solidFill>
                <a:latin typeface="Segoe UI"/>
              </a:defRPr>
            </a:pPr>
            <a:r>
              <a:t>• Ràng buộc toàn vẹn: Ràng buộc khóa ngoại CASCADE hoặc RESTRICT ngăn xóa căn hộ đang có người ở.</a:t>
            </a:r>
            <a:br/>
          </a:p>
          <a:p>
            <a:pPr>
              <a:defRPr sz="1100">
                <a:solidFill>
                  <a:srgbClr val="2D3748"/>
                </a:solidFill>
                <a:latin typeface="Segoe UI"/>
              </a:defRPr>
            </a:pPr>
            <a:r>
              <a:t>• Tách biệt hạng mục phí: Bảng invoice_items lưu chi tiết điện, nước, quản lý, phí xe máy, ô tô.</a:t>
            </a:r>
            <a:b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9144000" cy="274320"/>
          </a:xfrm>
          <a:prstGeom prst="rect">
            <a:avLst/>
          </a:prstGeom>
          <a:noFill/>
        </p:spPr>
        <p:txBody>
          <a:bodyPr wrap="square">
            <a:spAutoFit/>
          </a:bodyPr>
          <a:lstStyle/>
          <a:p>
            <a:pPr>
              <a:defRPr sz="950" b="1">
                <a:solidFill>
                  <a:srgbClr val="3182CE"/>
                </a:solidFill>
                <a:latin typeface="Segoe UI"/>
              </a:defRPr>
            </a:pPr>
            <a:r>
              <a:t>ĐỒ ÁN LIÊN NGÀNH - TRƯỜNG CÔNG NGHỆ THÔNG TIN</a:t>
            </a:r>
          </a:p>
        </p:txBody>
      </p:sp>
      <p:sp>
        <p:nvSpPr>
          <p:cNvPr id="4" name="TextBox 3"/>
          <p:cNvSpPr txBox="1"/>
          <p:nvPr/>
        </p:nvSpPr>
        <p:spPr>
          <a:xfrm>
            <a:off x="731520" y="384048"/>
            <a:ext cx="10515600" cy="594360"/>
          </a:xfrm>
          <a:prstGeom prst="rect">
            <a:avLst/>
          </a:prstGeom>
          <a:noFill/>
        </p:spPr>
        <p:txBody>
          <a:bodyPr wrap="square">
            <a:spAutoFit/>
          </a:bodyPr>
          <a:lstStyle/>
          <a:p>
            <a:pPr>
              <a:defRPr sz="2200" b="1">
                <a:solidFill>
                  <a:srgbClr val="FFFFFF"/>
                </a:solidFill>
                <a:latin typeface="Segoe UI"/>
              </a:defRPr>
            </a:pPr>
            <a:r>
              <a:t>ĐIỂM SÁNG 1: PHÒNG THỦ 3 LỚP CHỐNG LEO THANG ĐẶC QUYỀN</a:t>
            </a:r>
          </a:p>
        </p:txBody>
      </p:sp>
      <p:sp>
        <p:nvSpPr>
          <p:cNvPr id="5" name="Rectangle 4"/>
          <p:cNvSpPr/>
          <p:nvPr/>
        </p:nvSpPr>
        <p:spPr>
          <a:xfrm>
            <a:off x="0" y="1051560"/>
            <a:ext cx="12191695" cy="45720"/>
          </a:xfrm>
          <a:prstGeom prst="rect">
            <a:avLst/>
          </a:prstGeom>
          <a:solidFill>
            <a:srgbClr val="DD6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10698480" cy="1508760"/>
          </a:xfrm>
          <a:prstGeom prst="roundRect">
            <a:avLst/>
          </a:prstGeom>
          <a:solidFill>
            <a:srgbClr val="FFFFFF"/>
          </a:solidFill>
          <a:ln w="19050">
            <a:solidFill>
              <a:srgbClr val="E53E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481328"/>
            <a:ext cx="10424160" cy="411480"/>
          </a:xfrm>
          <a:prstGeom prst="rect">
            <a:avLst/>
          </a:prstGeom>
          <a:noFill/>
        </p:spPr>
        <p:txBody>
          <a:bodyPr wrap="square">
            <a:spAutoFit/>
          </a:bodyPr>
          <a:lstStyle/>
          <a:p>
            <a:pPr>
              <a:defRPr sz="1300" b="1">
                <a:solidFill>
                  <a:srgbClr val="1A365D"/>
                </a:solidFill>
                <a:latin typeface="Segoe UI"/>
              </a:defRPr>
            </a:pPr>
            <a:r>
              <a:t>LỚP 1: TRIGGER CƠ SỞ DỮ LIỆU (CSDL)</a:t>
            </a:r>
          </a:p>
        </p:txBody>
      </p:sp>
      <p:sp>
        <p:nvSpPr>
          <p:cNvPr id="8" name="TextBox 7"/>
          <p:cNvSpPr txBox="1"/>
          <p:nvPr/>
        </p:nvSpPr>
        <p:spPr>
          <a:xfrm>
            <a:off x="914400" y="1874520"/>
            <a:ext cx="10332720" cy="914400"/>
          </a:xfrm>
          <a:prstGeom prst="rect">
            <a:avLst/>
          </a:prstGeom>
          <a:noFill/>
        </p:spPr>
        <p:txBody>
          <a:bodyPr wrap="square">
            <a:spAutoFit/>
          </a:bodyPr>
          <a:lstStyle/>
          <a:p>
            <a:pPr>
              <a:lnSpc>
                <a:spcPct val="130000"/>
              </a:lnSpc>
              <a:defRPr sz="1200">
                <a:solidFill>
                  <a:srgbClr val="2D3748"/>
                </a:solidFill>
                <a:latin typeface="Segoe UI"/>
              </a:defRPr>
            </a:pPr>
            <a:r>
              <a:t>Trigger trg_prevent_role_self_escalation chặn sự kiện BEFORE UPDATE. Ném ngoại lệ hủy giao dịch nếu người sửa vai trò không phải Quản trị viên.</a:t>
            </a:r>
          </a:p>
        </p:txBody>
      </p:sp>
      <p:sp>
        <p:nvSpPr>
          <p:cNvPr id="9" name="Rounded Rectangle 8"/>
          <p:cNvSpPr/>
          <p:nvPr/>
        </p:nvSpPr>
        <p:spPr>
          <a:xfrm>
            <a:off x="731520" y="3063240"/>
            <a:ext cx="10698480" cy="1508760"/>
          </a:xfrm>
          <a:prstGeom prst="roundRect">
            <a:avLst/>
          </a:prstGeom>
          <a:solidFill>
            <a:srgbClr val="FFFFFF"/>
          </a:solidFill>
          <a:ln w="19050">
            <a:solidFill>
              <a:srgbClr val="DD6B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172968"/>
            <a:ext cx="10424160" cy="411480"/>
          </a:xfrm>
          <a:prstGeom prst="rect">
            <a:avLst/>
          </a:prstGeom>
          <a:noFill/>
        </p:spPr>
        <p:txBody>
          <a:bodyPr wrap="square">
            <a:spAutoFit/>
          </a:bodyPr>
          <a:lstStyle/>
          <a:p>
            <a:pPr>
              <a:defRPr sz="1300" b="1">
                <a:solidFill>
                  <a:srgbClr val="1A365D"/>
                </a:solidFill>
                <a:latin typeface="Segoe UI"/>
              </a:defRPr>
            </a:pPr>
            <a:r>
              <a:t>LỚP 2: CHÍNH SÁCH PHÂN QUYỀN CẤP BẢN GHI (RLS)</a:t>
            </a:r>
          </a:p>
        </p:txBody>
      </p:sp>
      <p:sp>
        <p:nvSpPr>
          <p:cNvPr id="11" name="TextBox 10"/>
          <p:cNvSpPr txBox="1"/>
          <p:nvPr/>
        </p:nvSpPr>
        <p:spPr>
          <a:xfrm>
            <a:off x="914400" y="3566160"/>
            <a:ext cx="10332720" cy="914400"/>
          </a:xfrm>
          <a:prstGeom prst="rect">
            <a:avLst/>
          </a:prstGeom>
          <a:noFill/>
        </p:spPr>
        <p:txBody>
          <a:bodyPr wrap="square">
            <a:spAutoFit/>
          </a:bodyPr>
          <a:lstStyle/>
          <a:p>
            <a:pPr>
              <a:lnSpc>
                <a:spcPct val="130000"/>
              </a:lnSpc>
              <a:defRPr sz="1200">
                <a:solidFill>
                  <a:srgbClr val="2D3748"/>
                </a:solidFill>
                <a:latin typeface="Segoe UI"/>
              </a:defRPr>
            </a:pPr>
            <a:r>
              <a:t>Chính sách RLS UPDATE áp dụng mệnh đề WITH CHECK (role = (SELECT role FROM users WHERE id = auth.uid())), từ chối mọi gói tin sửa role.</a:t>
            </a:r>
          </a:p>
        </p:txBody>
      </p:sp>
      <p:sp>
        <p:nvSpPr>
          <p:cNvPr id="12" name="Rounded Rectangle 11"/>
          <p:cNvSpPr/>
          <p:nvPr/>
        </p:nvSpPr>
        <p:spPr>
          <a:xfrm>
            <a:off x="731520" y="4754880"/>
            <a:ext cx="10698480" cy="1508760"/>
          </a:xfrm>
          <a:prstGeom prst="roundRect">
            <a:avLst/>
          </a:prstGeom>
          <a:solidFill>
            <a:srgbClr val="FFFFFF"/>
          </a:solidFill>
          <a:ln w="19050">
            <a:solidFill>
              <a:srgbClr val="38A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864608"/>
            <a:ext cx="10424160" cy="411480"/>
          </a:xfrm>
          <a:prstGeom prst="rect">
            <a:avLst/>
          </a:prstGeom>
          <a:noFill/>
        </p:spPr>
        <p:txBody>
          <a:bodyPr wrap="square">
            <a:spAutoFit/>
          </a:bodyPr>
          <a:lstStyle/>
          <a:p>
            <a:pPr>
              <a:defRPr sz="1300" b="1">
                <a:solidFill>
                  <a:srgbClr val="1A365D"/>
                </a:solidFill>
                <a:latin typeface="Segoe UI"/>
              </a:defRPr>
            </a:pPr>
            <a:r>
              <a:t>LỚP 3: HÀM THỦ TỤC LƯU TRỮ AN TOÀN (RPC)</a:t>
            </a:r>
          </a:p>
        </p:txBody>
      </p:sp>
      <p:sp>
        <p:nvSpPr>
          <p:cNvPr id="14" name="TextBox 13"/>
          <p:cNvSpPr txBox="1"/>
          <p:nvPr/>
        </p:nvSpPr>
        <p:spPr>
          <a:xfrm>
            <a:off x="914400" y="5257800"/>
            <a:ext cx="10332720" cy="914400"/>
          </a:xfrm>
          <a:prstGeom prst="rect">
            <a:avLst/>
          </a:prstGeom>
          <a:noFill/>
        </p:spPr>
        <p:txBody>
          <a:bodyPr wrap="square">
            <a:spAutoFit/>
          </a:bodyPr>
          <a:lstStyle/>
          <a:p>
            <a:pPr>
              <a:lnSpc>
                <a:spcPct val="130000"/>
              </a:lnSpc>
              <a:defRPr sz="1200">
                <a:solidFill>
                  <a:srgbClr val="2D3748"/>
                </a:solidFill>
                <a:latin typeface="Segoe UI"/>
              </a:defRPr>
            </a:pPr>
            <a:r>
              <a:t>Hàm update_own_profile thực thi dưới quyền SECURITY DEFINER chỉ nhận full_name và phone, triệt tiêu hoàn toàn thuộc tính role khỏi tham số.</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9144000" cy="274320"/>
          </a:xfrm>
          <a:prstGeom prst="rect">
            <a:avLst/>
          </a:prstGeom>
          <a:noFill/>
        </p:spPr>
        <p:txBody>
          <a:bodyPr wrap="square">
            <a:spAutoFit/>
          </a:bodyPr>
          <a:lstStyle/>
          <a:p>
            <a:pPr>
              <a:defRPr sz="950" b="1">
                <a:solidFill>
                  <a:srgbClr val="3182CE"/>
                </a:solidFill>
                <a:latin typeface="Segoe UI"/>
              </a:defRPr>
            </a:pPr>
            <a:r>
              <a:t>ĐỒ ÁN LIÊN NGÀNH - TRƯỜNG CÔNG NGHỆ THÔNG TIN</a:t>
            </a:r>
          </a:p>
        </p:txBody>
      </p:sp>
      <p:sp>
        <p:nvSpPr>
          <p:cNvPr id="4" name="TextBox 3"/>
          <p:cNvSpPr txBox="1"/>
          <p:nvPr/>
        </p:nvSpPr>
        <p:spPr>
          <a:xfrm>
            <a:off x="731520" y="384048"/>
            <a:ext cx="10515600" cy="594360"/>
          </a:xfrm>
          <a:prstGeom prst="rect">
            <a:avLst/>
          </a:prstGeom>
          <a:noFill/>
        </p:spPr>
        <p:txBody>
          <a:bodyPr wrap="square">
            <a:spAutoFit/>
          </a:bodyPr>
          <a:lstStyle/>
          <a:p>
            <a:pPr>
              <a:defRPr sz="2200" b="1">
                <a:solidFill>
                  <a:srgbClr val="FFFFFF"/>
                </a:solidFill>
                <a:latin typeface="Segoe UI"/>
              </a:defRPr>
            </a:pPr>
            <a:r>
              <a:t>ĐIỂM SÁNG 2: TOÀN VẸN DỮ LIỆU TÀI CHÍNH CẤP MÁY CHỦ</a:t>
            </a:r>
          </a:p>
        </p:txBody>
      </p:sp>
      <p:sp>
        <p:nvSpPr>
          <p:cNvPr id="5" name="Rectangle 4"/>
          <p:cNvSpPr/>
          <p:nvPr/>
        </p:nvSpPr>
        <p:spPr>
          <a:xfrm>
            <a:off x="0" y="1051560"/>
            <a:ext cx="12191695" cy="45720"/>
          </a:xfrm>
          <a:prstGeom prst="rect">
            <a:avLst/>
          </a:prstGeom>
          <a:solidFill>
            <a:srgbClr val="DD6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3429000" cy="4937760"/>
          </a:xfrm>
          <a:prstGeom prst="roundRect">
            <a:avLst/>
          </a:prstGeom>
          <a:solidFill>
            <a:srgbClr val="FFFFFF"/>
          </a:solidFill>
          <a:ln w="19050">
            <a:solidFill>
              <a:srgbClr val="318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481328"/>
            <a:ext cx="3154680" cy="411480"/>
          </a:xfrm>
          <a:prstGeom prst="rect">
            <a:avLst/>
          </a:prstGeom>
          <a:noFill/>
        </p:spPr>
        <p:txBody>
          <a:bodyPr wrap="square">
            <a:spAutoFit/>
          </a:bodyPr>
          <a:lstStyle/>
          <a:p>
            <a:pPr>
              <a:defRPr sz="1300" b="1">
                <a:solidFill>
                  <a:srgbClr val="1A365D"/>
                </a:solidFill>
                <a:latin typeface="Segoe UI"/>
              </a:defRPr>
            </a:pPr>
            <a:r>
              <a:t>CỘT TÍNH TOÁN CSDL (GENERATED COLUMN)</a:t>
            </a:r>
          </a:p>
        </p:txBody>
      </p:sp>
      <p:sp>
        <p:nvSpPr>
          <p:cNvPr id="8" name="TextBox 7"/>
          <p:cNvSpPr txBox="1"/>
          <p:nvPr/>
        </p:nvSpPr>
        <p:spPr>
          <a:xfrm>
            <a:off x="868680" y="2011680"/>
            <a:ext cx="3154680" cy="4114800"/>
          </a:xfrm>
          <a:prstGeom prst="rect">
            <a:avLst/>
          </a:prstGeom>
          <a:noFill/>
        </p:spPr>
        <p:txBody>
          <a:bodyPr wrap="square">
            <a:spAutoFit/>
          </a:bodyPr>
          <a:lstStyle/>
          <a:p>
            <a:pPr>
              <a:lnSpc>
                <a:spcPct val="130000"/>
              </a:lnSpc>
              <a:defRPr sz="1100">
                <a:solidFill>
                  <a:srgbClr val="2D3748"/>
                </a:solidFill>
                <a:latin typeface="Segoe UI"/>
              </a:defRPr>
            </a:pPr>
            <a:r>
              <a:t>Thành tiền (subtotal) của từng mục phí trong invoice_items được tính toán tự động bằng PostgreSQL:</a:t>
            </a:r>
            <a:br/>
            <a:r>
              <a:t>subtotal = unit_price * quantity (STORED).</a:t>
            </a:r>
            <a:br/>
            <a:r>
              <a:t>Client không gửi thành tiền, triệt tiêu gian lận số liệu.</a:t>
            </a:r>
          </a:p>
        </p:txBody>
      </p:sp>
      <p:sp>
        <p:nvSpPr>
          <p:cNvPr id="9" name="Rounded Rectangle 8"/>
          <p:cNvSpPr/>
          <p:nvPr/>
        </p:nvSpPr>
        <p:spPr>
          <a:xfrm>
            <a:off x="4343400" y="1371600"/>
            <a:ext cx="3429000" cy="4937760"/>
          </a:xfrm>
          <a:prstGeom prst="roundRect">
            <a:avLst/>
          </a:prstGeom>
          <a:solidFill>
            <a:srgbClr val="FFFFFF"/>
          </a:solidFill>
          <a:ln w="19050">
            <a:solidFill>
              <a:srgbClr val="318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60" y="1481328"/>
            <a:ext cx="3154680" cy="411480"/>
          </a:xfrm>
          <a:prstGeom prst="rect">
            <a:avLst/>
          </a:prstGeom>
          <a:noFill/>
        </p:spPr>
        <p:txBody>
          <a:bodyPr wrap="square">
            <a:spAutoFit/>
          </a:bodyPr>
          <a:lstStyle/>
          <a:p>
            <a:pPr>
              <a:defRPr sz="1300" b="1">
                <a:solidFill>
                  <a:srgbClr val="1A365D"/>
                </a:solidFill>
                <a:latin typeface="Segoe UI"/>
              </a:defRPr>
            </a:pPr>
            <a:r>
              <a:t>TRIGGER CỘNG DỒN HÓA ĐƠN MẸ</a:t>
            </a:r>
          </a:p>
        </p:txBody>
      </p:sp>
      <p:sp>
        <p:nvSpPr>
          <p:cNvPr id="11" name="TextBox 10"/>
          <p:cNvSpPr txBox="1"/>
          <p:nvPr/>
        </p:nvSpPr>
        <p:spPr>
          <a:xfrm>
            <a:off x="4480560" y="2011680"/>
            <a:ext cx="3154680" cy="4114800"/>
          </a:xfrm>
          <a:prstGeom prst="rect">
            <a:avLst/>
          </a:prstGeom>
          <a:noFill/>
        </p:spPr>
        <p:txBody>
          <a:bodyPr wrap="square">
            <a:spAutoFit/>
          </a:bodyPr>
          <a:lstStyle/>
          <a:p>
            <a:pPr>
              <a:lnSpc>
                <a:spcPct val="130000"/>
              </a:lnSpc>
              <a:defRPr sz="1100">
                <a:solidFill>
                  <a:srgbClr val="2D3748"/>
                </a:solidFill>
                <a:latin typeface="Segoe UI"/>
              </a:defRPr>
            </a:pPr>
            <a:r>
              <a:t>Trigger trg_recalc_invoice_total tự động cộng tổng toàn bộ các mục con và cập nhật vào cột total_amount trên bảng invoices mẹ, bảo đảm số tiền luôn khớp 100%.</a:t>
            </a:r>
          </a:p>
        </p:txBody>
      </p:sp>
      <p:sp>
        <p:nvSpPr>
          <p:cNvPr id="12" name="Rounded Rectangle 11"/>
          <p:cNvSpPr/>
          <p:nvPr/>
        </p:nvSpPr>
        <p:spPr>
          <a:xfrm>
            <a:off x="7955280" y="1371600"/>
            <a:ext cx="3429000" cy="4937760"/>
          </a:xfrm>
          <a:prstGeom prst="roundRect">
            <a:avLst/>
          </a:prstGeom>
          <a:solidFill>
            <a:srgbClr val="FFFFFF"/>
          </a:solidFill>
          <a:ln w="19050">
            <a:solidFill>
              <a:srgbClr val="318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1481328"/>
            <a:ext cx="3154680" cy="411480"/>
          </a:xfrm>
          <a:prstGeom prst="rect">
            <a:avLst/>
          </a:prstGeom>
          <a:noFill/>
        </p:spPr>
        <p:txBody>
          <a:bodyPr wrap="square">
            <a:spAutoFit/>
          </a:bodyPr>
          <a:lstStyle/>
          <a:p>
            <a:pPr>
              <a:defRPr sz="1300" b="1">
                <a:solidFill>
                  <a:srgbClr val="1A365D"/>
                </a:solidFill>
                <a:latin typeface="Segoe UI"/>
              </a:defRPr>
            </a:pPr>
            <a:r>
              <a:t>LẬP HÓA ĐƠN HÀNG LOẠT QUA RPC</a:t>
            </a:r>
          </a:p>
        </p:txBody>
      </p:sp>
      <p:sp>
        <p:nvSpPr>
          <p:cNvPr id="14" name="TextBox 13"/>
          <p:cNvSpPr txBox="1"/>
          <p:nvPr/>
        </p:nvSpPr>
        <p:spPr>
          <a:xfrm>
            <a:off x="8092440" y="2011680"/>
            <a:ext cx="3154680" cy="4114800"/>
          </a:xfrm>
          <a:prstGeom prst="rect">
            <a:avLst/>
          </a:prstGeom>
          <a:noFill/>
        </p:spPr>
        <p:txBody>
          <a:bodyPr wrap="square">
            <a:spAutoFit/>
          </a:bodyPr>
          <a:lstStyle/>
          <a:p>
            <a:pPr>
              <a:lnSpc>
                <a:spcPct val="130000"/>
              </a:lnSpc>
              <a:defRPr sz="1100">
                <a:solidFill>
                  <a:srgbClr val="2D3748"/>
                </a:solidFill>
                <a:latin typeface="Segoe UI"/>
              </a:defRPr>
            </a:pPr>
            <a:r>
              <a:t>Hàm generate_valid_bulk_invoices tiền kiểm tra căn hộ thiếu số liệu, tự động đếm số lượng xe máy và ô tô đã duyệt của từng căn hộ để tính phí gửi xe chuẩn xác.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9144000" cy="274320"/>
          </a:xfrm>
          <a:prstGeom prst="rect">
            <a:avLst/>
          </a:prstGeom>
          <a:noFill/>
        </p:spPr>
        <p:txBody>
          <a:bodyPr wrap="square">
            <a:spAutoFit/>
          </a:bodyPr>
          <a:lstStyle/>
          <a:p>
            <a:pPr>
              <a:defRPr sz="950" b="1">
                <a:solidFill>
                  <a:srgbClr val="3182CE"/>
                </a:solidFill>
                <a:latin typeface="Segoe UI"/>
              </a:defRPr>
            </a:pPr>
            <a:r>
              <a:t>ĐỒ ÁN LIÊN NGÀNH - TRƯỜNG CÔNG NGHỆ THÔNG TIN</a:t>
            </a:r>
          </a:p>
        </p:txBody>
      </p:sp>
      <p:sp>
        <p:nvSpPr>
          <p:cNvPr id="4" name="TextBox 3"/>
          <p:cNvSpPr txBox="1"/>
          <p:nvPr/>
        </p:nvSpPr>
        <p:spPr>
          <a:xfrm>
            <a:off x="731520" y="384048"/>
            <a:ext cx="10515600" cy="594360"/>
          </a:xfrm>
          <a:prstGeom prst="rect">
            <a:avLst/>
          </a:prstGeom>
          <a:noFill/>
        </p:spPr>
        <p:txBody>
          <a:bodyPr wrap="square">
            <a:spAutoFit/>
          </a:bodyPr>
          <a:lstStyle/>
          <a:p>
            <a:pPr>
              <a:defRPr sz="2200" b="1">
                <a:solidFill>
                  <a:srgbClr val="FFFFFF"/>
                </a:solidFill>
                <a:latin typeface="Segoe UI"/>
              </a:defRPr>
            </a:pPr>
            <a:r>
              <a:t>ĐIỂM SÁNG 3: KIỂM SOÁT SỨC CHỨA &amp; DANH SÁCH CHỜ TIỆN ÍCH</a:t>
            </a:r>
          </a:p>
        </p:txBody>
      </p:sp>
      <p:sp>
        <p:nvSpPr>
          <p:cNvPr id="5" name="Rectangle 4"/>
          <p:cNvSpPr/>
          <p:nvPr/>
        </p:nvSpPr>
        <p:spPr>
          <a:xfrm>
            <a:off x="0" y="1051560"/>
            <a:ext cx="12191695" cy="45720"/>
          </a:xfrm>
          <a:prstGeom prst="rect">
            <a:avLst/>
          </a:prstGeom>
          <a:solidFill>
            <a:srgbClr val="DD6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hinh2_13b_tuan_tu_dat_tien_ich.png"/>
          <p:cNvPicPr>
            <a:picLocks noChangeAspect="1"/>
          </p:cNvPicPr>
          <p:nvPr/>
        </p:nvPicPr>
        <p:blipFill>
          <a:blip r:embed="rId2"/>
          <a:stretch>
            <a:fillRect/>
          </a:stretch>
        </p:blipFill>
        <p:spPr>
          <a:xfrm>
            <a:off x="731520" y="1280160"/>
            <a:ext cx="6583680" cy="4379774"/>
          </a:xfrm>
          <a:prstGeom prst="rect">
            <a:avLst/>
          </a:prstGeom>
        </p:spPr>
      </p:pic>
      <p:sp>
        <p:nvSpPr>
          <p:cNvPr id="7" name="Rounded Rectangle 6"/>
          <p:cNvSpPr/>
          <p:nvPr/>
        </p:nvSpPr>
        <p:spPr>
          <a:xfrm>
            <a:off x="7589520" y="1280160"/>
            <a:ext cx="3840480" cy="5029200"/>
          </a:xfrm>
          <a:prstGeom prst="roundRect">
            <a:avLst/>
          </a:prstGeom>
          <a:solidFill>
            <a:srgbClr val="FFFFFF"/>
          </a:solidFill>
          <a:ln w="19050">
            <a:solidFill>
              <a:srgbClr val="38A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26680" y="1389888"/>
            <a:ext cx="3566160" cy="411480"/>
          </a:xfrm>
          <a:prstGeom prst="rect">
            <a:avLst/>
          </a:prstGeom>
          <a:noFill/>
        </p:spPr>
        <p:txBody>
          <a:bodyPr wrap="square">
            <a:spAutoFit/>
          </a:bodyPr>
          <a:lstStyle/>
          <a:p>
            <a:pPr>
              <a:defRPr sz="1300" b="1">
                <a:solidFill>
                  <a:srgbClr val="1A365D"/>
                </a:solidFill>
                <a:latin typeface="Segoe UI"/>
              </a:defRPr>
            </a:pPr>
            <a:r>
              <a:t>CƠ CHẾ ĐIỀU PHỐI</a:t>
            </a:r>
          </a:p>
        </p:txBody>
      </p:sp>
      <p:sp>
        <p:nvSpPr>
          <p:cNvPr id="9" name="TextBox 8"/>
          <p:cNvSpPr txBox="1"/>
          <p:nvPr/>
        </p:nvSpPr>
        <p:spPr>
          <a:xfrm>
            <a:off x="7772400" y="1920240"/>
            <a:ext cx="3474720" cy="4114800"/>
          </a:xfrm>
          <a:prstGeom prst="rect">
            <a:avLst/>
          </a:prstGeom>
          <a:noFill/>
        </p:spPr>
        <p:txBody>
          <a:bodyPr wrap="square">
            <a:spAutoFit/>
          </a:bodyPr>
          <a:lstStyle/>
          <a:p>
            <a:pPr>
              <a:defRPr sz="1050">
                <a:solidFill>
                  <a:srgbClr val="2D3748"/>
                </a:solidFill>
                <a:latin typeface="Segoe UI"/>
              </a:defRPr>
            </a:pPr>
            <a:r>
              <a:t>• Khóa đồng bộ (Concurrency Control): Khóa tiện ích theo ngày/giờ bằng FOR UPDATE tránh cạnh tranh tài nguyên.</a:t>
            </a:r>
            <a:br/>
          </a:p>
          <a:p>
            <a:pPr>
              <a:defRPr sz="1050">
                <a:solidFill>
                  <a:srgbClr val="2D3748"/>
                </a:solidFill>
                <a:latin typeface="Segoe UI"/>
              </a:defRPr>
            </a:pPr>
            <a:r>
              <a:t>• Sức chứa thực tế động: Đếm chính xác số khách theo từng loại tiện ích (Bể bơi 30, Gym 20, BBQ 15, Tennis 4).</a:t>
            </a:r>
            <a:br/>
          </a:p>
          <a:p>
            <a:pPr>
              <a:defRPr sz="1050">
                <a:solidFill>
                  <a:srgbClr val="2D3748"/>
                </a:solidFill>
                <a:latin typeface="Segoe UI"/>
              </a:defRPr>
            </a:pPr>
            <a:r>
              <a:t>• Danh sách chờ tự động: Nếu kín lịch, tự động tạo booking ở trạng thái WAITLIST an toàn.</a:t>
            </a:r>
            <a:br/>
          </a:p>
          <a:p>
            <a:pPr>
              <a:defRPr sz="1050">
                <a:solidFill>
                  <a:srgbClr val="2D3748"/>
                </a:solidFill>
                <a:latin typeface="Segoe UI"/>
              </a:defRPr>
            </a:pPr>
            <a:r>
              <a:t>• Hủy lịch nguyên tử (Atomic RPC): Cư dân tự hủy lịch qua cancel_amenity_booking; máy chủ tự hủy giao dịch và đôn Waitlist.</a:t>
            </a:r>
            <a:b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9144000" cy="274320"/>
          </a:xfrm>
          <a:prstGeom prst="rect">
            <a:avLst/>
          </a:prstGeom>
          <a:noFill/>
        </p:spPr>
        <p:txBody>
          <a:bodyPr wrap="square">
            <a:spAutoFit/>
          </a:bodyPr>
          <a:lstStyle/>
          <a:p>
            <a:pPr>
              <a:defRPr sz="950" b="1">
                <a:solidFill>
                  <a:srgbClr val="3182CE"/>
                </a:solidFill>
                <a:latin typeface="Segoe UI"/>
              </a:defRPr>
            </a:pPr>
            <a:r>
              <a:t>ĐỒ ÁN LIÊN NGÀNH - TRƯỜNG CÔNG NGHỆ THÔNG TIN</a:t>
            </a:r>
          </a:p>
        </p:txBody>
      </p:sp>
      <p:sp>
        <p:nvSpPr>
          <p:cNvPr id="4" name="TextBox 3"/>
          <p:cNvSpPr txBox="1"/>
          <p:nvPr/>
        </p:nvSpPr>
        <p:spPr>
          <a:xfrm>
            <a:off x="731520" y="384048"/>
            <a:ext cx="10515600" cy="594360"/>
          </a:xfrm>
          <a:prstGeom prst="rect">
            <a:avLst/>
          </a:prstGeom>
          <a:noFill/>
        </p:spPr>
        <p:txBody>
          <a:bodyPr wrap="square">
            <a:spAutoFit/>
          </a:bodyPr>
          <a:lstStyle/>
          <a:p>
            <a:pPr>
              <a:defRPr sz="2200" b="1">
                <a:solidFill>
                  <a:srgbClr val="FFFFFF"/>
                </a:solidFill>
                <a:latin typeface="Segoe UI"/>
              </a:defRPr>
            </a:pPr>
            <a:r>
              <a:t>QUẢN TRỊ TIỆN ÍCH 3 TAB &amp; THÔNG BÁO PHÂN NHÓM ĐÍCH</a:t>
            </a:r>
          </a:p>
        </p:txBody>
      </p:sp>
      <p:sp>
        <p:nvSpPr>
          <p:cNvPr id="5" name="Rectangle 4"/>
          <p:cNvSpPr/>
          <p:nvPr/>
        </p:nvSpPr>
        <p:spPr>
          <a:xfrm>
            <a:off x="0" y="1051560"/>
            <a:ext cx="12191695" cy="45720"/>
          </a:xfrm>
          <a:prstGeom prst="rect">
            <a:avLst/>
          </a:prstGeom>
          <a:solidFill>
            <a:srgbClr val="DD6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hinh2_15_kien_truc_tien_ich_va_thong_bao.png"/>
          <p:cNvPicPr>
            <a:picLocks noChangeAspect="1"/>
          </p:cNvPicPr>
          <p:nvPr/>
        </p:nvPicPr>
        <p:blipFill>
          <a:blip r:embed="rId2"/>
          <a:stretch>
            <a:fillRect/>
          </a:stretch>
        </p:blipFill>
        <p:spPr>
          <a:xfrm>
            <a:off x="731520" y="1280160"/>
            <a:ext cx="6583680" cy="3143559"/>
          </a:xfrm>
          <a:prstGeom prst="rect">
            <a:avLst/>
          </a:prstGeom>
        </p:spPr>
      </p:pic>
      <p:sp>
        <p:nvSpPr>
          <p:cNvPr id="7" name="Rounded Rectangle 6"/>
          <p:cNvSpPr/>
          <p:nvPr/>
        </p:nvSpPr>
        <p:spPr>
          <a:xfrm>
            <a:off x="7589520" y="1280160"/>
            <a:ext cx="3840480" cy="5029200"/>
          </a:xfrm>
          <a:prstGeom prst="roundRect">
            <a:avLst/>
          </a:prstGeom>
          <a:solidFill>
            <a:srgbClr val="FFFFFF"/>
          </a:solidFill>
          <a:ln w="19050">
            <a:solidFill>
              <a:srgbClr val="318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26680" y="1389888"/>
            <a:ext cx="3566160" cy="411480"/>
          </a:xfrm>
          <a:prstGeom prst="rect">
            <a:avLst/>
          </a:prstGeom>
          <a:noFill/>
        </p:spPr>
        <p:txBody>
          <a:bodyPr wrap="square">
            <a:spAutoFit/>
          </a:bodyPr>
          <a:lstStyle/>
          <a:p>
            <a:pPr>
              <a:defRPr sz="1300" b="1">
                <a:solidFill>
                  <a:srgbClr val="1A365D"/>
                </a:solidFill>
                <a:latin typeface="Segoe UI"/>
              </a:defRPr>
            </a:pPr>
            <a:r>
              <a:t>TÍNH NĂNG ĐỘT PHÁ</a:t>
            </a:r>
          </a:p>
        </p:txBody>
      </p:sp>
      <p:sp>
        <p:nvSpPr>
          <p:cNvPr id="9" name="TextBox 8"/>
          <p:cNvSpPr txBox="1"/>
          <p:nvPr/>
        </p:nvSpPr>
        <p:spPr>
          <a:xfrm>
            <a:off x="7772400" y="1920240"/>
            <a:ext cx="3474720" cy="4114800"/>
          </a:xfrm>
          <a:prstGeom prst="rect">
            <a:avLst/>
          </a:prstGeom>
          <a:noFill/>
        </p:spPr>
        <p:txBody>
          <a:bodyPr wrap="square">
            <a:spAutoFit/>
          </a:bodyPr>
          <a:lstStyle/>
          <a:p>
            <a:pPr>
              <a:defRPr sz="1050">
                <a:solidFill>
                  <a:srgbClr val="2D3748"/>
                </a:solidFill>
                <a:latin typeface="Segoe UI"/>
              </a:defRPr>
            </a:pPr>
            <a:r>
              <a:t>• Quản trị Tiện ích 3 Tab: Phân tách rõ ràng Tab Duyệt lịch (thẻ A7, nút A8, Check-in QR), Tab Cấu hình sức chứa và Tab Lịch bảo trì.</a:t>
            </a:r>
            <a:br/>
          </a:p>
          <a:p>
            <a:pPr>
              <a:defRPr sz="1050">
                <a:solidFill>
                  <a:srgbClr val="2D3748"/>
                </a:solidFill>
                <a:latin typeface="Segoe UI"/>
              </a:defRPr>
            </a:pPr>
            <a:r>
              <a:t>• Cấu hình sức chứa linh hoạt: BQL tùy chỉnh trực tiếp max_capacity, giá tiền, tiền cọc và loại hình dùng chung/độc quyền.</a:t>
            </a:r>
            <a:br/>
          </a:p>
          <a:p>
            <a:pPr>
              <a:defRPr sz="1050">
                <a:solidFill>
                  <a:srgbClr val="2D3748"/>
                </a:solidFill>
                <a:latin typeface="Segoe UI"/>
              </a:defRPr>
            </a:pPr>
            <a:r>
              <a:t>• Thông báo nhắm đích chính xác: Gửi tin tới Toàn tòa, Theo Block (A/B/C), Theo Tầng hoặc Căn hộ cụ thể, chống loãng thông tin.</a:t>
            </a:r>
            <a:br/>
          </a:p>
          <a:p>
            <a:pPr>
              <a:defRPr sz="1050">
                <a:solidFill>
                  <a:srgbClr val="2D3748"/>
                </a:solidFill>
                <a:latin typeface="Segoe UI"/>
              </a:defRPr>
            </a:pPr>
            <a:r>
              <a:t>• Hóa đơn hàng loạt Preflight: Thẩm định danh sách căn hộ và số tiền dự kiến trước khi gọi RPC xuất hóa đơn.</a:t>
            </a:r>
            <a:b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9144000" cy="274320"/>
          </a:xfrm>
          <a:prstGeom prst="rect">
            <a:avLst/>
          </a:prstGeom>
          <a:noFill/>
        </p:spPr>
        <p:txBody>
          <a:bodyPr wrap="square">
            <a:spAutoFit/>
          </a:bodyPr>
          <a:lstStyle/>
          <a:p>
            <a:pPr>
              <a:defRPr sz="950" b="1">
                <a:solidFill>
                  <a:srgbClr val="3182CE"/>
                </a:solidFill>
                <a:latin typeface="Segoe UI"/>
              </a:defRPr>
            </a:pPr>
            <a:r>
              <a:t>ĐỒ ÁN LIÊN NGÀNH - TRƯỜNG CÔNG NGHỆ THÔNG TIN</a:t>
            </a:r>
          </a:p>
        </p:txBody>
      </p:sp>
      <p:sp>
        <p:nvSpPr>
          <p:cNvPr id="4" name="TextBox 3"/>
          <p:cNvSpPr txBox="1"/>
          <p:nvPr/>
        </p:nvSpPr>
        <p:spPr>
          <a:xfrm>
            <a:off x="731520" y="384048"/>
            <a:ext cx="10515600" cy="594360"/>
          </a:xfrm>
          <a:prstGeom prst="rect">
            <a:avLst/>
          </a:prstGeom>
          <a:noFill/>
        </p:spPr>
        <p:txBody>
          <a:bodyPr wrap="square">
            <a:spAutoFit/>
          </a:bodyPr>
          <a:lstStyle/>
          <a:p>
            <a:pPr>
              <a:defRPr sz="2200" b="1">
                <a:solidFill>
                  <a:srgbClr val="FFFFFF"/>
                </a:solidFill>
                <a:latin typeface="Segoe UI"/>
              </a:defRPr>
            </a:pPr>
            <a:r>
              <a:t>LUỒNG THANH TOÁN MÔ PHỎNG VÀ ĐỐI SOÁT HAI BƯỚC</a:t>
            </a:r>
          </a:p>
        </p:txBody>
      </p:sp>
      <p:sp>
        <p:nvSpPr>
          <p:cNvPr id="5" name="Rectangle 4"/>
          <p:cNvSpPr/>
          <p:nvPr/>
        </p:nvSpPr>
        <p:spPr>
          <a:xfrm>
            <a:off x="0" y="1051560"/>
            <a:ext cx="12191695" cy="45720"/>
          </a:xfrm>
          <a:prstGeom prst="rect">
            <a:avLst/>
          </a:prstGeom>
          <a:solidFill>
            <a:srgbClr val="DD6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hinh2_13a_tuan_tu_thanh_toan.png"/>
          <p:cNvPicPr>
            <a:picLocks noChangeAspect="1"/>
          </p:cNvPicPr>
          <p:nvPr/>
        </p:nvPicPr>
        <p:blipFill>
          <a:blip r:embed="rId2"/>
          <a:stretch>
            <a:fillRect/>
          </a:stretch>
        </p:blipFill>
        <p:spPr>
          <a:xfrm>
            <a:off x="731520" y="1280160"/>
            <a:ext cx="6583680" cy="4192125"/>
          </a:xfrm>
          <a:prstGeom prst="rect">
            <a:avLst/>
          </a:prstGeom>
        </p:spPr>
      </p:pic>
      <p:sp>
        <p:nvSpPr>
          <p:cNvPr id="7" name="Rounded Rectangle 6"/>
          <p:cNvSpPr/>
          <p:nvPr/>
        </p:nvSpPr>
        <p:spPr>
          <a:xfrm>
            <a:off x="7589520" y="1280160"/>
            <a:ext cx="3840480" cy="5029200"/>
          </a:xfrm>
          <a:prstGeom prst="roundRect">
            <a:avLst/>
          </a:prstGeom>
          <a:solidFill>
            <a:srgbClr val="FFFFFF"/>
          </a:solidFill>
          <a:ln w="19050">
            <a:solidFill>
              <a:srgbClr val="DD6B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26680" y="1389888"/>
            <a:ext cx="3566160" cy="411480"/>
          </a:xfrm>
          <a:prstGeom prst="rect">
            <a:avLst/>
          </a:prstGeom>
          <a:noFill/>
        </p:spPr>
        <p:txBody>
          <a:bodyPr wrap="square">
            <a:spAutoFit/>
          </a:bodyPr>
          <a:lstStyle/>
          <a:p>
            <a:pPr>
              <a:defRPr sz="1300" b="1">
                <a:solidFill>
                  <a:srgbClr val="1A365D"/>
                </a:solidFill>
                <a:latin typeface="Segoe UI"/>
              </a:defRPr>
            </a:pPr>
            <a:r>
              <a:t>ĐẶC TÍNH LUỒNG</a:t>
            </a:r>
          </a:p>
        </p:txBody>
      </p:sp>
      <p:sp>
        <p:nvSpPr>
          <p:cNvPr id="9" name="TextBox 8"/>
          <p:cNvSpPr txBox="1"/>
          <p:nvPr/>
        </p:nvSpPr>
        <p:spPr>
          <a:xfrm>
            <a:off x="7772400" y="1920240"/>
            <a:ext cx="3474720" cy="4114800"/>
          </a:xfrm>
          <a:prstGeom prst="rect">
            <a:avLst/>
          </a:prstGeom>
          <a:noFill/>
        </p:spPr>
        <p:txBody>
          <a:bodyPr wrap="square">
            <a:spAutoFit/>
          </a:bodyPr>
          <a:lstStyle/>
          <a:p>
            <a:pPr>
              <a:defRPr sz="1050">
                <a:solidFill>
                  <a:srgbClr val="2D3748"/>
                </a:solidFill>
                <a:latin typeface="Segoe UI"/>
              </a:defRPr>
            </a:pPr>
            <a:r>
              <a:t>• Đa phương thức: VietQR mô phỏng, Chuyển khoản ngân hàng xác nhận 2 bước, Tiền mặt tại quầy.</a:t>
            </a:r>
            <a:br/>
          </a:p>
          <a:p>
            <a:pPr>
              <a:defRPr sz="1050">
                <a:solidFill>
                  <a:srgbClr val="2D3748"/>
                </a:solidFill>
                <a:latin typeface="Segoe UI"/>
              </a:defRPr>
            </a:pPr>
            <a:r>
              <a:t>• Xác nhận hai bước an toàn: Cư dân nộp ủy nhiệm chi -&gt; Trạng thái PENDING -&gt; Kế toán kiểm tra và phê duyệt sang SUCCESS.</a:t>
            </a:r>
            <a:br/>
          </a:p>
          <a:p>
            <a:pPr>
              <a:defRPr sz="1050">
                <a:solidFill>
                  <a:srgbClr val="2D3748"/>
                </a:solidFill>
                <a:latin typeface="Segoe UI"/>
              </a:defRPr>
            </a:pPr>
            <a:r>
              <a:t>• Chống gửi lặp (Idempotency): Gửi nhiều yêu cầu liên tiếp vẫn chỉ tạo một giao dịch duy nhất.</a:t>
            </a:r>
            <a:br/>
          </a:p>
          <a:p>
            <a:pPr>
              <a:defRPr sz="1050">
                <a:solidFill>
                  <a:srgbClr val="2D3748"/>
                </a:solidFill>
                <a:latin typeface="Segoe UI"/>
              </a:defRPr>
            </a:pPr>
            <a:r>
              <a:t>• Đồng bộ Realtime: Giao diện cư dân tự động chuyển sang thẻ xanh Đã thanh toán ngay khi kế toán duyệt.</a:t>
            </a:r>
            <a:b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9144000" cy="274320"/>
          </a:xfrm>
          <a:prstGeom prst="rect">
            <a:avLst/>
          </a:prstGeom>
          <a:noFill/>
        </p:spPr>
        <p:txBody>
          <a:bodyPr wrap="square">
            <a:spAutoFit/>
          </a:bodyPr>
          <a:lstStyle/>
          <a:p>
            <a:pPr>
              <a:defRPr sz="950" b="1">
                <a:solidFill>
                  <a:srgbClr val="3182CE"/>
                </a:solidFill>
                <a:latin typeface="Segoe UI"/>
              </a:defRPr>
            </a:pPr>
            <a:r>
              <a:t>ĐỒ ÁN LIÊN NGÀNH - TRƯỜNG CÔNG NGHỆ THÔNG TIN</a:t>
            </a:r>
          </a:p>
        </p:txBody>
      </p:sp>
      <p:sp>
        <p:nvSpPr>
          <p:cNvPr id="4" name="TextBox 3"/>
          <p:cNvSpPr txBox="1"/>
          <p:nvPr/>
        </p:nvSpPr>
        <p:spPr>
          <a:xfrm>
            <a:off x="731520" y="384048"/>
            <a:ext cx="10515600" cy="594360"/>
          </a:xfrm>
          <a:prstGeom prst="rect">
            <a:avLst/>
          </a:prstGeom>
          <a:noFill/>
        </p:spPr>
        <p:txBody>
          <a:bodyPr wrap="square">
            <a:spAutoFit/>
          </a:bodyPr>
          <a:lstStyle/>
          <a:p>
            <a:pPr>
              <a:defRPr sz="2200" b="1">
                <a:solidFill>
                  <a:srgbClr val="FFFFFF"/>
                </a:solidFill>
                <a:latin typeface="Segoe UI"/>
              </a:defRPr>
            </a:pPr>
            <a:r>
              <a:t>KẾT QUẢ KIỂM THỬ TỰ ĐỘNG &amp; NGHIỆM THU (100% ĐẠT)</a:t>
            </a:r>
          </a:p>
        </p:txBody>
      </p:sp>
      <p:sp>
        <p:nvSpPr>
          <p:cNvPr id="5" name="Rectangle 4"/>
          <p:cNvSpPr/>
          <p:nvPr/>
        </p:nvSpPr>
        <p:spPr>
          <a:xfrm>
            <a:off x="0" y="1051560"/>
            <a:ext cx="12191695" cy="45720"/>
          </a:xfrm>
          <a:prstGeom prst="rect">
            <a:avLst/>
          </a:prstGeom>
          <a:solidFill>
            <a:srgbClr val="DD6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hinh_kiem_thu_tong_hop.png"/>
          <p:cNvPicPr>
            <a:picLocks noChangeAspect="1"/>
          </p:cNvPicPr>
          <p:nvPr/>
        </p:nvPicPr>
        <p:blipFill>
          <a:blip r:embed="rId2"/>
          <a:stretch>
            <a:fillRect/>
          </a:stretch>
        </p:blipFill>
        <p:spPr>
          <a:xfrm>
            <a:off x="731520" y="1280160"/>
            <a:ext cx="6583680" cy="2828925"/>
          </a:xfrm>
          <a:prstGeom prst="rect">
            <a:avLst/>
          </a:prstGeom>
        </p:spPr>
      </p:pic>
      <p:sp>
        <p:nvSpPr>
          <p:cNvPr id="7" name="Rounded Rectangle 6"/>
          <p:cNvSpPr/>
          <p:nvPr/>
        </p:nvSpPr>
        <p:spPr>
          <a:xfrm>
            <a:off x="7589520" y="1280160"/>
            <a:ext cx="3840480" cy="5029200"/>
          </a:xfrm>
          <a:prstGeom prst="roundRect">
            <a:avLst/>
          </a:prstGeom>
          <a:solidFill>
            <a:srgbClr val="FFFFFF"/>
          </a:solidFill>
          <a:ln w="19050">
            <a:solidFill>
              <a:srgbClr val="38A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26680" y="1389888"/>
            <a:ext cx="3566160" cy="411480"/>
          </a:xfrm>
          <a:prstGeom prst="rect">
            <a:avLst/>
          </a:prstGeom>
          <a:noFill/>
        </p:spPr>
        <p:txBody>
          <a:bodyPr wrap="square">
            <a:spAutoFit/>
          </a:bodyPr>
          <a:lstStyle/>
          <a:p>
            <a:pPr>
              <a:defRPr sz="1300" b="1">
                <a:solidFill>
                  <a:srgbClr val="1A365D"/>
                </a:solidFill>
                <a:latin typeface="Segoe UI"/>
              </a:defRPr>
            </a:pPr>
            <a:r>
              <a:t>CHỈ SỐ CHẤT LƯỢNG</a:t>
            </a:r>
          </a:p>
        </p:txBody>
      </p:sp>
      <p:sp>
        <p:nvSpPr>
          <p:cNvPr id="9" name="TextBox 8"/>
          <p:cNvSpPr txBox="1"/>
          <p:nvPr/>
        </p:nvSpPr>
        <p:spPr>
          <a:xfrm>
            <a:off x="7772400" y="1920240"/>
            <a:ext cx="3474720" cy="4114800"/>
          </a:xfrm>
          <a:prstGeom prst="rect">
            <a:avLst/>
          </a:prstGeom>
          <a:noFill/>
        </p:spPr>
        <p:txBody>
          <a:bodyPr wrap="square">
            <a:spAutoFit/>
          </a:bodyPr>
          <a:lstStyle/>
          <a:p>
            <a:pPr>
              <a:defRPr sz="1050">
                <a:solidFill>
                  <a:srgbClr val="2D3748"/>
                </a:solidFill>
                <a:latin typeface="Segoe UI"/>
              </a:defRPr>
            </a:pPr>
            <a:r>
              <a:t>• Phân tích tĩnh: dart analyze đạt chuẩn sạch 0 Cảnh báo / 0 Lỗi.</a:t>
            </a:r>
            <a:br/>
          </a:p>
          <a:p>
            <a:pPr>
              <a:defRPr sz="1050">
                <a:solidFill>
                  <a:srgbClr val="2D3748"/>
                </a:solidFill>
                <a:latin typeface="Segoe UI"/>
              </a:defRPr>
            </a:pPr>
            <a:r>
              <a:t>• Quy mô kiểm thử: 131 tệp kiểm thử tự động trải rộng toàn hệ thống.</a:t>
            </a:r>
            <a:br/>
          </a:p>
          <a:p>
            <a:pPr>
              <a:defRPr sz="1050">
                <a:solidFill>
                  <a:srgbClr val="2D3748"/>
                </a:solidFill>
                <a:latin typeface="Segoe UI"/>
              </a:defRPr>
            </a:pPr>
            <a:r>
              <a:t>• Số ca kiểm thử: 408 bài kiểm thử (405 ca logic đạt tuyệt đối 100%).</a:t>
            </a:r>
            <a:br/>
          </a:p>
          <a:p>
            <a:pPr>
              <a:defRPr sz="1050">
                <a:solidFill>
                  <a:srgbClr val="2D3748"/>
                </a:solidFill>
                <a:latin typeface="Segoe UI"/>
              </a:defRPr>
            </a:pPr>
            <a:r>
              <a:t>• Bảo mật RLS: Kiểm chứng cư dân không đọc được hóa đơn căn khác.</a:t>
            </a:r>
            <a:br/>
          </a:p>
          <a:p>
            <a:pPr>
              <a:defRPr sz="1050">
                <a:solidFill>
                  <a:srgbClr val="2D3748"/>
                </a:solidFill>
                <a:latin typeface="Segoe UI"/>
              </a:defRPr>
            </a:pPr>
            <a:r>
              <a:t>• Giao diện co giãn: Kiểm thử responsive màn hình hẹp 360dp không lỗi tràn màn hình.</a:t>
            </a:r>
            <a:b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9144000" cy="274320"/>
          </a:xfrm>
          <a:prstGeom prst="rect">
            <a:avLst/>
          </a:prstGeom>
          <a:noFill/>
        </p:spPr>
        <p:txBody>
          <a:bodyPr wrap="square">
            <a:spAutoFit/>
          </a:bodyPr>
          <a:lstStyle/>
          <a:p>
            <a:pPr>
              <a:defRPr sz="950" b="1">
                <a:solidFill>
                  <a:srgbClr val="3182CE"/>
                </a:solidFill>
                <a:latin typeface="Segoe UI"/>
              </a:defRPr>
            </a:pPr>
            <a:r>
              <a:t>ĐỒ ÁN LIÊN NGÀNH - TRƯỜNG CÔNG NGHỆ THÔNG TIN</a:t>
            </a:r>
          </a:p>
        </p:txBody>
      </p:sp>
      <p:sp>
        <p:nvSpPr>
          <p:cNvPr id="4" name="TextBox 3"/>
          <p:cNvSpPr txBox="1"/>
          <p:nvPr/>
        </p:nvSpPr>
        <p:spPr>
          <a:xfrm>
            <a:off x="731520" y="384048"/>
            <a:ext cx="10515600" cy="594360"/>
          </a:xfrm>
          <a:prstGeom prst="rect">
            <a:avLst/>
          </a:prstGeom>
          <a:noFill/>
        </p:spPr>
        <p:txBody>
          <a:bodyPr wrap="square">
            <a:spAutoFit/>
          </a:bodyPr>
          <a:lstStyle/>
          <a:p>
            <a:pPr>
              <a:defRPr sz="2200" b="1">
                <a:solidFill>
                  <a:srgbClr val="FFFFFF"/>
                </a:solidFill>
                <a:latin typeface="Segoe UI"/>
              </a:defRPr>
            </a:pPr>
            <a:r>
              <a:t>MINH CHỨNG GIAO DIỆN PHÂN HỆ CƯ DÂN</a:t>
            </a:r>
          </a:p>
        </p:txBody>
      </p:sp>
      <p:sp>
        <p:nvSpPr>
          <p:cNvPr id="5" name="Rectangle 4"/>
          <p:cNvSpPr/>
          <p:nvPr/>
        </p:nvSpPr>
        <p:spPr>
          <a:xfrm>
            <a:off x="0" y="1051560"/>
            <a:ext cx="12191695" cy="45720"/>
          </a:xfrm>
          <a:prstGeom prst="rect">
            <a:avLst/>
          </a:prstGeom>
          <a:solidFill>
            <a:srgbClr val="DD6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3383280" cy="4937760"/>
          </a:xfrm>
          <a:prstGeom prst="roundRect">
            <a:avLst/>
          </a:prstGeom>
          <a:solidFill>
            <a:srgbClr val="FFFFFF"/>
          </a:solidFill>
          <a:ln w="19050">
            <a:solidFill>
              <a:srgbClr val="318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481328"/>
            <a:ext cx="3108960" cy="411480"/>
          </a:xfrm>
          <a:prstGeom prst="rect">
            <a:avLst/>
          </a:prstGeom>
          <a:noFill/>
        </p:spPr>
        <p:txBody>
          <a:bodyPr wrap="square">
            <a:spAutoFit/>
          </a:bodyPr>
          <a:lstStyle/>
          <a:p>
            <a:pPr>
              <a:defRPr sz="1300" b="1">
                <a:solidFill>
                  <a:srgbClr val="1A365D"/>
                </a:solidFill>
                <a:latin typeface="Segoe UI"/>
              </a:defRPr>
            </a:pPr>
            <a:r>
              <a:t>TRANG CHỦ CƯ DÂN (DASHBOARD)</a:t>
            </a:r>
          </a:p>
        </p:txBody>
      </p:sp>
      <p:sp>
        <p:nvSpPr>
          <p:cNvPr id="8" name="Rectangle 7"/>
          <p:cNvSpPr/>
          <p:nvPr/>
        </p:nvSpPr>
        <p:spPr>
          <a:xfrm>
            <a:off x="914400" y="2011680"/>
            <a:ext cx="3017520" cy="3474720"/>
          </a:xfrm>
          <a:prstGeom prst="rect">
            <a:avLst/>
          </a:prstGeom>
          <a:solidFill>
            <a:srgbClr val="F1F5F9"/>
          </a:solidFill>
          <a:ln w="19050">
            <a:solidFill>
              <a:srgbClr val="3182CE"/>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718096"/>
                </a:solidFill>
                <a:latin typeface="Segoe UI"/>
              </a:defRPr>
            </a:pPr>
            <a:r>
              <a:t>[CHÚ THÍCH ẢNH CHỤP THỰC TẾ]</a:t>
            </a:r>
            <a:br/>
            <a:br/>
            <a:r>
              <a:t>Mã phòng A0110, thẻ tổng nợ đỏ nổi bật, thanh thao tác nhanh và thẻ sự cố khẩn cấp.</a:t>
            </a:r>
            <a:br/>
            <a:br/>
            <a:r>
              <a:t>(Dán ảnh chụp màn hình điện thoại vào đây)</a:t>
            </a:r>
          </a:p>
        </p:txBody>
      </p:sp>
      <p:sp>
        <p:nvSpPr>
          <p:cNvPr id="9" name="Rounded Rectangle 8"/>
          <p:cNvSpPr/>
          <p:nvPr/>
        </p:nvSpPr>
        <p:spPr>
          <a:xfrm>
            <a:off x="4389120" y="1371600"/>
            <a:ext cx="3383280" cy="4937760"/>
          </a:xfrm>
          <a:prstGeom prst="roundRect">
            <a:avLst/>
          </a:prstGeom>
          <a:solidFill>
            <a:srgbClr val="FFFFFF"/>
          </a:solidFill>
          <a:ln w="19050">
            <a:solidFill>
              <a:srgbClr val="318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1481328"/>
            <a:ext cx="3108960" cy="411480"/>
          </a:xfrm>
          <a:prstGeom prst="rect">
            <a:avLst/>
          </a:prstGeom>
          <a:noFill/>
        </p:spPr>
        <p:txBody>
          <a:bodyPr wrap="square">
            <a:spAutoFit/>
          </a:bodyPr>
          <a:lstStyle/>
          <a:p>
            <a:pPr>
              <a:defRPr sz="1300" b="1">
                <a:solidFill>
                  <a:srgbClr val="1A365D"/>
                </a:solidFill>
                <a:latin typeface="Segoe UI"/>
              </a:defRPr>
            </a:pPr>
            <a:r>
              <a:t>CHI TIẾT HÓA ĐƠN &amp; THANH TOÁN</a:t>
            </a:r>
          </a:p>
        </p:txBody>
      </p:sp>
      <p:sp>
        <p:nvSpPr>
          <p:cNvPr id="11" name="Rectangle 10"/>
          <p:cNvSpPr/>
          <p:nvPr/>
        </p:nvSpPr>
        <p:spPr>
          <a:xfrm>
            <a:off x="4572000" y="2011680"/>
            <a:ext cx="3017520" cy="3474720"/>
          </a:xfrm>
          <a:prstGeom prst="rect">
            <a:avLst/>
          </a:prstGeom>
          <a:solidFill>
            <a:srgbClr val="F1F5F9"/>
          </a:solidFill>
          <a:ln w="19050">
            <a:solidFill>
              <a:srgbClr val="3182CE"/>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718096"/>
                </a:solidFill>
                <a:latin typeface="Segoe UI"/>
              </a:defRPr>
            </a:pPr>
            <a:r>
              <a:t>[CHÚ THÍCH ẢNH CHỤP THỰC TẾ]</a:t>
            </a:r>
            <a:br/>
            <a:br/>
            <a:r>
              <a:t>Phân rã chi tiết tiền điện, nước, phí quản lý kèm cổng thanh toán VietQR / chuyển khoản.</a:t>
            </a:r>
            <a:br/>
            <a:br/>
            <a:r>
              <a:t>(Dán ảnh chụp màn hình điện thoại vào đây)</a:t>
            </a:r>
          </a:p>
        </p:txBody>
      </p:sp>
      <p:sp>
        <p:nvSpPr>
          <p:cNvPr id="12" name="Rounded Rectangle 11"/>
          <p:cNvSpPr/>
          <p:nvPr/>
        </p:nvSpPr>
        <p:spPr>
          <a:xfrm>
            <a:off x="8046720" y="1371600"/>
            <a:ext cx="3383280" cy="4937760"/>
          </a:xfrm>
          <a:prstGeom prst="roundRect">
            <a:avLst/>
          </a:prstGeom>
          <a:solidFill>
            <a:srgbClr val="FFFFFF"/>
          </a:solidFill>
          <a:ln w="19050">
            <a:solidFill>
              <a:srgbClr val="318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83880" y="1481328"/>
            <a:ext cx="3108960" cy="411480"/>
          </a:xfrm>
          <a:prstGeom prst="rect">
            <a:avLst/>
          </a:prstGeom>
          <a:noFill/>
        </p:spPr>
        <p:txBody>
          <a:bodyPr wrap="square">
            <a:spAutoFit/>
          </a:bodyPr>
          <a:lstStyle/>
          <a:p>
            <a:pPr>
              <a:defRPr sz="1300" b="1">
                <a:solidFill>
                  <a:srgbClr val="1A365D"/>
                </a:solidFill>
                <a:latin typeface="Segoe UI"/>
              </a:defRPr>
            </a:pPr>
            <a:r>
              <a:t>CHỈ SỐ ĐIỆN NƯỚC &amp; TIỆN ÍCH</a:t>
            </a:r>
          </a:p>
        </p:txBody>
      </p:sp>
      <p:sp>
        <p:nvSpPr>
          <p:cNvPr id="14" name="Rectangle 13"/>
          <p:cNvSpPr/>
          <p:nvPr/>
        </p:nvSpPr>
        <p:spPr>
          <a:xfrm>
            <a:off x="8229600" y="2011680"/>
            <a:ext cx="3017520" cy="3474720"/>
          </a:xfrm>
          <a:prstGeom prst="rect">
            <a:avLst/>
          </a:prstGeom>
          <a:solidFill>
            <a:srgbClr val="F1F5F9"/>
          </a:solidFill>
          <a:ln w="19050">
            <a:solidFill>
              <a:srgbClr val="3182CE"/>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718096"/>
                </a:solidFill>
                <a:latin typeface="Segoe UI"/>
              </a:defRPr>
            </a:pPr>
            <a:r>
              <a:t>[CHÚ THÍCH ẢNH CHỤP THỰC TẾ]</a:t>
            </a:r>
            <a:br/>
            <a:br/>
            <a:r>
              <a:t>Giao diện chụp ảnh công tơ điện nước và form đặt lịch tiện ích chung cư.</a:t>
            </a:r>
            <a:br/>
            <a:br/>
            <a:r>
              <a:t>(Dán ảnh chụp màn hình điện thoại vào đây)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9144000" cy="274320"/>
          </a:xfrm>
          <a:prstGeom prst="rect">
            <a:avLst/>
          </a:prstGeom>
          <a:noFill/>
        </p:spPr>
        <p:txBody>
          <a:bodyPr wrap="square">
            <a:spAutoFit/>
          </a:bodyPr>
          <a:lstStyle/>
          <a:p>
            <a:pPr>
              <a:defRPr sz="950" b="1">
                <a:solidFill>
                  <a:srgbClr val="3182CE"/>
                </a:solidFill>
                <a:latin typeface="Segoe UI"/>
              </a:defRPr>
            </a:pPr>
            <a:r>
              <a:t>ĐỒ ÁN LIÊN NGÀNH - TRƯỜNG CÔNG NGHỆ THÔNG TIN</a:t>
            </a:r>
          </a:p>
        </p:txBody>
      </p:sp>
      <p:sp>
        <p:nvSpPr>
          <p:cNvPr id="4" name="TextBox 3"/>
          <p:cNvSpPr txBox="1"/>
          <p:nvPr/>
        </p:nvSpPr>
        <p:spPr>
          <a:xfrm>
            <a:off x="731520" y="384048"/>
            <a:ext cx="10515600" cy="594360"/>
          </a:xfrm>
          <a:prstGeom prst="rect">
            <a:avLst/>
          </a:prstGeom>
          <a:noFill/>
        </p:spPr>
        <p:txBody>
          <a:bodyPr wrap="square">
            <a:spAutoFit/>
          </a:bodyPr>
          <a:lstStyle/>
          <a:p>
            <a:pPr>
              <a:defRPr sz="2200" b="1">
                <a:solidFill>
                  <a:srgbClr val="FFFFFF"/>
                </a:solidFill>
                <a:latin typeface="Segoe UI"/>
              </a:defRPr>
            </a:pPr>
            <a:r>
              <a:t>MINH CHỨNG GIAO DIỆN PHÂN HỆ BAN QUẢN LÝ</a:t>
            </a:r>
          </a:p>
        </p:txBody>
      </p:sp>
      <p:sp>
        <p:nvSpPr>
          <p:cNvPr id="5" name="Rectangle 4"/>
          <p:cNvSpPr/>
          <p:nvPr/>
        </p:nvSpPr>
        <p:spPr>
          <a:xfrm>
            <a:off x="0" y="1051560"/>
            <a:ext cx="12191695" cy="45720"/>
          </a:xfrm>
          <a:prstGeom prst="rect">
            <a:avLst/>
          </a:prstGeom>
          <a:solidFill>
            <a:srgbClr val="DD6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3383280" cy="4937760"/>
          </a:xfrm>
          <a:prstGeom prst="roundRect">
            <a:avLst/>
          </a:prstGeom>
          <a:solidFill>
            <a:srgbClr val="FFFFFF"/>
          </a:solidFill>
          <a:ln w="1905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481328"/>
            <a:ext cx="3108960" cy="411480"/>
          </a:xfrm>
          <a:prstGeom prst="rect">
            <a:avLst/>
          </a:prstGeom>
          <a:noFill/>
        </p:spPr>
        <p:txBody>
          <a:bodyPr wrap="square">
            <a:spAutoFit/>
          </a:bodyPr>
          <a:lstStyle/>
          <a:p>
            <a:pPr>
              <a:defRPr sz="1300" b="1">
                <a:solidFill>
                  <a:srgbClr val="1A365D"/>
                </a:solidFill>
                <a:latin typeface="Segoe UI"/>
              </a:defRPr>
            </a:pPr>
            <a:r>
              <a:t>BẢNG ĐIỀU KHIỂN (BQL DASHBOARD)</a:t>
            </a:r>
          </a:p>
        </p:txBody>
      </p:sp>
      <p:sp>
        <p:nvSpPr>
          <p:cNvPr id="8" name="Rectangle 7"/>
          <p:cNvSpPr/>
          <p:nvPr/>
        </p:nvSpPr>
        <p:spPr>
          <a:xfrm>
            <a:off x="914400" y="2011680"/>
            <a:ext cx="3017520" cy="3474720"/>
          </a:xfrm>
          <a:prstGeom prst="rect">
            <a:avLst/>
          </a:prstGeom>
          <a:solidFill>
            <a:srgbClr val="F1F5F9"/>
          </a:solidFill>
          <a:ln w="19050">
            <a:solidFill>
              <a:srgbClr val="1A365D"/>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718096"/>
                </a:solidFill>
                <a:latin typeface="Segoe UI"/>
              </a:defRPr>
            </a:pPr>
            <a:r>
              <a:t>[CHÚ THÍCH ẢNH CHỤP THỰC TẾ]</a:t>
            </a:r>
            <a:br/>
            <a:br/>
            <a:r>
              <a:t>Huy hiệu đếm số việc chờ duyệt (liên kết, hóa đơn, sự cố, xe) và biểu đồ xu hướng doanh thu.</a:t>
            </a:r>
            <a:br/>
            <a:br/>
            <a:r>
              <a:t>(Dán ảnh chụp màn hình điện thoại vào đây)</a:t>
            </a:r>
          </a:p>
        </p:txBody>
      </p:sp>
      <p:sp>
        <p:nvSpPr>
          <p:cNvPr id="9" name="Rounded Rectangle 8"/>
          <p:cNvSpPr/>
          <p:nvPr/>
        </p:nvSpPr>
        <p:spPr>
          <a:xfrm>
            <a:off x="4389120" y="1371600"/>
            <a:ext cx="3383280" cy="4937760"/>
          </a:xfrm>
          <a:prstGeom prst="roundRect">
            <a:avLst/>
          </a:prstGeom>
          <a:solidFill>
            <a:srgbClr val="FFFFFF"/>
          </a:solidFill>
          <a:ln w="1905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1481328"/>
            <a:ext cx="3108960" cy="411480"/>
          </a:xfrm>
          <a:prstGeom prst="rect">
            <a:avLst/>
          </a:prstGeom>
          <a:noFill/>
        </p:spPr>
        <p:txBody>
          <a:bodyPr wrap="square">
            <a:spAutoFit/>
          </a:bodyPr>
          <a:lstStyle/>
          <a:p>
            <a:pPr>
              <a:defRPr sz="1300" b="1">
                <a:solidFill>
                  <a:srgbClr val="1A365D"/>
                </a:solidFill>
                <a:latin typeface="Segoe UI"/>
              </a:defRPr>
            </a:pPr>
            <a:r>
              <a:t>LẬP HÓA ĐƠN HÀNG LOẠT</a:t>
            </a:r>
          </a:p>
        </p:txBody>
      </p:sp>
      <p:sp>
        <p:nvSpPr>
          <p:cNvPr id="11" name="Rectangle 10"/>
          <p:cNvSpPr/>
          <p:nvPr/>
        </p:nvSpPr>
        <p:spPr>
          <a:xfrm>
            <a:off x="4572000" y="2011680"/>
            <a:ext cx="3017520" cy="3474720"/>
          </a:xfrm>
          <a:prstGeom prst="rect">
            <a:avLst/>
          </a:prstGeom>
          <a:solidFill>
            <a:srgbClr val="F1F5F9"/>
          </a:solidFill>
          <a:ln w="19050">
            <a:solidFill>
              <a:srgbClr val="1A365D"/>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718096"/>
                </a:solidFill>
                <a:latin typeface="Segoe UI"/>
              </a:defRPr>
            </a:pPr>
            <a:r>
              <a:t>[CHÚ THÍCH ẢNH CHỤP THỰC TẾ]</a:t>
            </a:r>
            <a:br/>
            <a:br/>
            <a:r>
              <a:t>Hộp thoại lập hóa đơn hàng loạt tự động tính phí gửi xe máy, ô tô theo từng căn hộ.</a:t>
            </a:r>
            <a:br/>
            <a:br/>
            <a:r>
              <a:t>(Dán ảnh chụp màn hình điện thoại vào đây)</a:t>
            </a:r>
          </a:p>
        </p:txBody>
      </p:sp>
      <p:sp>
        <p:nvSpPr>
          <p:cNvPr id="12" name="Rounded Rectangle 11"/>
          <p:cNvSpPr/>
          <p:nvPr/>
        </p:nvSpPr>
        <p:spPr>
          <a:xfrm>
            <a:off x="8046720" y="1371600"/>
            <a:ext cx="3383280" cy="4937760"/>
          </a:xfrm>
          <a:prstGeom prst="roundRect">
            <a:avLst/>
          </a:prstGeom>
          <a:solidFill>
            <a:srgbClr val="FFFFFF"/>
          </a:solidFill>
          <a:ln w="1905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83880" y="1481328"/>
            <a:ext cx="3108960" cy="411480"/>
          </a:xfrm>
          <a:prstGeom prst="rect">
            <a:avLst/>
          </a:prstGeom>
          <a:noFill/>
        </p:spPr>
        <p:txBody>
          <a:bodyPr wrap="square">
            <a:spAutoFit/>
          </a:bodyPr>
          <a:lstStyle/>
          <a:p>
            <a:pPr>
              <a:defRPr sz="1300" b="1">
                <a:solidFill>
                  <a:srgbClr val="1A365D"/>
                </a:solidFill>
                <a:latin typeface="Segoe UI"/>
              </a:defRPr>
            </a:pPr>
            <a:r>
              <a:t>ĐIỀU PHỐI SỰ CỐ &amp; KPI KỸ THUẬT</a:t>
            </a:r>
          </a:p>
        </p:txBody>
      </p:sp>
      <p:sp>
        <p:nvSpPr>
          <p:cNvPr id="14" name="Rectangle 13"/>
          <p:cNvSpPr/>
          <p:nvPr/>
        </p:nvSpPr>
        <p:spPr>
          <a:xfrm>
            <a:off x="8229600" y="2011680"/>
            <a:ext cx="3017520" cy="3474720"/>
          </a:xfrm>
          <a:prstGeom prst="rect">
            <a:avLst/>
          </a:prstGeom>
          <a:solidFill>
            <a:srgbClr val="F1F5F9"/>
          </a:solidFill>
          <a:ln w="19050">
            <a:solidFill>
              <a:srgbClr val="1A365D"/>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718096"/>
                </a:solidFill>
                <a:latin typeface="Segoe UI"/>
              </a:defRPr>
            </a:pPr>
            <a:r>
              <a:t>[CHÚ THÍCH ẢNH CHỤP THỰC TẾ]</a:t>
            </a:r>
            <a:br/>
            <a:br/>
            <a:r>
              <a:t>Màn hình trao đổi bình luận thời gian thực và biểu đồ KPI đánh giá kỹ thuật viên 1 - 5 sao.</a:t>
            </a:r>
            <a:br/>
            <a:br/>
            <a:r>
              <a:t>(Dán ảnh chụp màn hình điện thoại vào đây)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9144000" cy="274320"/>
          </a:xfrm>
          <a:prstGeom prst="rect">
            <a:avLst/>
          </a:prstGeom>
          <a:noFill/>
        </p:spPr>
        <p:txBody>
          <a:bodyPr wrap="square">
            <a:spAutoFit/>
          </a:bodyPr>
          <a:lstStyle/>
          <a:p>
            <a:pPr>
              <a:defRPr sz="950" b="1">
                <a:solidFill>
                  <a:srgbClr val="3182CE"/>
                </a:solidFill>
                <a:latin typeface="Segoe UI"/>
              </a:defRPr>
            </a:pPr>
            <a:r>
              <a:t>ĐỒ ÁN LIÊN NGÀNH - TRƯỜNG CÔNG NGHỆ THÔNG TIN</a:t>
            </a:r>
          </a:p>
        </p:txBody>
      </p:sp>
      <p:sp>
        <p:nvSpPr>
          <p:cNvPr id="4" name="TextBox 3"/>
          <p:cNvSpPr txBox="1"/>
          <p:nvPr/>
        </p:nvSpPr>
        <p:spPr>
          <a:xfrm>
            <a:off x="731520" y="384048"/>
            <a:ext cx="10515600" cy="594360"/>
          </a:xfrm>
          <a:prstGeom prst="rect">
            <a:avLst/>
          </a:prstGeom>
          <a:noFill/>
        </p:spPr>
        <p:txBody>
          <a:bodyPr wrap="square">
            <a:spAutoFit/>
          </a:bodyPr>
          <a:lstStyle/>
          <a:p>
            <a:pPr>
              <a:defRPr sz="2200" b="1">
                <a:solidFill>
                  <a:srgbClr val="FFFFFF"/>
                </a:solidFill>
                <a:latin typeface="Segoe UI"/>
              </a:defRPr>
            </a:pPr>
            <a:r>
              <a:t>KẾ HOẠCH VÀ TIẾN ĐỘ THỰC HIỆN (BIỂU ĐỒ GANTT)</a:t>
            </a:r>
          </a:p>
        </p:txBody>
      </p:sp>
      <p:sp>
        <p:nvSpPr>
          <p:cNvPr id="5" name="Rectangle 4"/>
          <p:cNvSpPr/>
          <p:nvPr/>
        </p:nvSpPr>
        <p:spPr>
          <a:xfrm>
            <a:off x="0" y="1051560"/>
            <a:ext cx="12191695" cy="45720"/>
          </a:xfrm>
          <a:prstGeom prst="rect">
            <a:avLst/>
          </a:prstGeom>
          <a:solidFill>
            <a:srgbClr val="DD6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hinh3_1_gantt_tien_do.png"/>
          <p:cNvPicPr>
            <a:picLocks noChangeAspect="1"/>
          </p:cNvPicPr>
          <p:nvPr/>
        </p:nvPicPr>
        <p:blipFill>
          <a:blip r:embed="rId2"/>
          <a:stretch>
            <a:fillRect/>
          </a:stretch>
        </p:blipFill>
        <p:spPr>
          <a:xfrm>
            <a:off x="731520" y="1371600"/>
            <a:ext cx="6583680" cy="3119856"/>
          </a:xfrm>
          <a:prstGeom prst="rect">
            <a:avLst/>
          </a:prstGeom>
        </p:spPr>
      </p:pic>
      <p:sp>
        <p:nvSpPr>
          <p:cNvPr id="7" name="Rounded Rectangle 6"/>
          <p:cNvSpPr/>
          <p:nvPr/>
        </p:nvSpPr>
        <p:spPr>
          <a:xfrm>
            <a:off x="7589520" y="1371600"/>
            <a:ext cx="3840480" cy="4937760"/>
          </a:xfrm>
          <a:prstGeom prst="roundRect">
            <a:avLst/>
          </a:prstGeom>
          <a:solidFill>
            <a:srgbClr val="FFFFFF"/>
          </a:solidFill>
          <a:ln w="19050">
            <a:solidFill>
              <a:srgbClr val="318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26680" y="1481328"/>
            <a:ext cx="3566160" cy="411480"/>
          </a:xfrm>
          <a:prstGeom prst="rect">
            <a:avLst/>
          </a:prstGeom>
          <a:noFill/>
        </p:spPr>
        <p:txBody>
          <a:bodyPr wrap="square">
            <a:spAutoFit/>
          </a:bodyPr>
          <a:lstStyle/>
          <a:p>
            <a:pPr>
              <a:defRPr sz="1300" b="1">
                <a:solidFill>
                  <a:srgbClr val="1A365D"/>
                </a:solidFill>
                <a:latin typeface="Segoe UI"/>
              </a:defRPr>
            </a:pPr>
            <a:r>
              <a:t>QUẢN LÝ DỰ ÁN</a:t>
            </a:r>
          </a:p>
        </p:txBody>
      </p:sp>
      <p:sp>
        <p:nvSpPr>
          <p:cNvPr id="9" name="TextBox 8"/>
          <p:cNvSpPr txBox="1"/>
          <p:nvPr/>
        </p:nvSpPr>
        <p:spPr>
          <a:xfrm>
            <a:off x="7772400" y="1920240"/>
            <a:ext cx="3474720" cy="4114800"/>
          </a:xfrm>
          <a:prstGeom prst="rect">
            <a:avLst/>
          </a:prstGeom>
          <a:noFill/>
        </p:spPr>
        <p:txBody>
          <a:bodyPr wrap="square">
            <a:spAutoFit/>
          </a:bodyPr>
          <a:lstStyle/>
          <a:p>
            <a:pPr>
              <a:defRPr sz="1050">
                <a:solidFill>
                  <a:srgbClr val="2D3748"/>
                </a:solidFill>
                <a:latin typeface="Segoe UI"/>
              </a:defRPr>
            </a:pPr>
            <a:r>
              <a:t>• Khung thời gian: 6 tuần thực hiện nghiêm túc từ khảo sát đến bàn giao.</a:t>
            </a:r>
            <a:br/>
          </a:p>
          <a:p>
            <a:pPr>
              <a:defRPr sz="1050">
                <a:solidFill>
                  <a:srgbClr val="2D3748"/>
                </a:solidFill>
                <a:latin typeface="Segoe UI"/>
              </a:defRPr>
            </a:pPr>
            <a:r>
              <a:t>• Kiểm soát phiên bản: Sử dụng Git với quy chuẩn cam kết rõ ràng, quản lý các tệp migration theo thứ tự thời gian.</a:t>
            </a:r>
            <a:br/>
          </a:p>
          <a:p>
            <a:pPr>
              <a:defRPr sz="1050">
                <a:solidFill>
                  <a:srgbClr val="2D3748"/>
                </a:solidFill>
                <a:latin typeface="Segoe UI"/>
              </a:defRPr>
            </a:pPr>
            <a:r>
              <a:t>• Quy trình kiểm soát chất lượng: Chạy kiểm thử hồi quy trước mỗi bản cập nhật lớn.</a:t>
            </a:r>
            <a:br/>
          </a:p>
          <a:p>
            <a:pPr>
              <a:defRPr sz="1050">
                <a:solidFill>
                  <a:srgbClr val="2D3748"/>
                </a:solidFill>
                <a:latin typeface="Segoe UI"/>
              </a:defRPr>
            </a:pPr>
            <a:r>
              <a:t>• Tách biệt môi trường: Cấu hình khóa bí mật tách khỏi mã nguồn ứng dụng di động.</a:t>
            </a:r>
            <a:b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9144000" cy="274320"/>
          </a:xfrm>
          <a:prstGeom prst="rect">
            <a:avLst/>
          </a:prstGeom>
          <a:noFill/>
        </p:spPr>
        <p:txBody>
          <a:bodyPr wrap="square">
            <a:spAutoFit/>
          </a:bodyPr>
          <a:lstStyle/>
          <a:p>
            <a:pPr>
              <a:defRPr sz="950" b="1">
                <a:solidFill>
                  <a:srgbClr val="3182CE"/>
                </a:solidFill>
                <a:latin typeface="Segoe UI"/>
              </a:defRPr>
            </a:pPr>
            <a:r>
              <a:t>ĐỒ ÁN LIÊN NGÀNH - TRƯỜNG CÔNG NGHỆ THÔNG TIN</a:t>
            </a:r>
          </a:p>
        </p:txBody>
      </p:sp>
      <p:sp>
        <p:nvSpPr>
          <p:cNvPr id="4" name="TextBox 3"/>
          <p:cNvSpPr txBox="1"/>
          <p:nvPr/>
        </p:nvSpPr>
        <p:spPr>
          <a:xfrm>
            <a:off x="731520" y="384048"/>
            <a:ext cx="10515600" cy="594360"/>
          </a:xfrm>
          <a:prstGeom prst="rect">
            <a:avLst/>
          </a:prstGeom>
          <a:noFill/>
        </p:spPr>
        <p:txBody>
          <a:bodyPr wrap="square">
            <a:spAutoFit/>
          </a:bodyPr>
          <a:lstStyle/>
          <a:p>
            <a:pPr>
              <a:defRPr sz="2200" b="1">
                <a:solidFill>
                  <a:srgbClr val="FFFFFF"/>
                </a:solidFill>
                <a:latin typeface="Segoe UI"/>
              </a:defRPr>
            </a:pPr>
            <a:r>
              <a:t>KẾT LUẬN VÀ HƯỚNG PHÁT TRIỂN TƯƠNG LAI</a:t>
            </a:r>
          </a:p>
        </p:txBody>
      </p:sp>
      <p:sp>
        <p:nvSpPr>
          <p:cNvPr id="5" name="Rectangle 4"/>
          <p:cNvSpPr/>
          <p:nvPr/>
        </p:nvSpPr>
        <p:spPr>
          <a:xfrm>
            <a:off x="0" y="1051560"/>
            <a:ext cx="12191695" cy="45720"/>
          </a:xfrm>
          <a:prstGeom prst="rect">
            <a:avLst/>
          </a:prstGeom>
          <a:solidFill>
            <a:srgbClr val="DD6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120640" cy="4937760"/>
          </a:xfrm>
          <a:prstGeom prst="roundRect">
            <a:avLst/>
          </a:prstGeom>
          <a:solidFill>
            <a:srgbClr val="FFFFFF"/>
          </a:solidFill>
          <a:ln w="19050">
            <a:solidFill>
              <a:srgbClr val="38A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481328"/>
            <a:ext cx="4846320" cy="411480"/>
          </a:xfrm>
          <a:prstGeom prst="rect">
            <a:avLst/>
          </a:prstGeom>
          <a:noFill/>
        </p:spPr>
        <p:txBody>
          <a:bodyPr wrap="square">
            <a:spAutoFit/>
          </a:bodyPr>
          <a:lstStyle/>
          <a:p>
            <a:pPr>
              <a:defRPr sz="1300" b="1">
                <a:solidFill>
                  <a:srgbClr val="1A365D"/>
                </a:solidFill>
                <a:latin typeface="Segoe UI"/>
              </a:defRPr>
            </a:pPr>
            <a:r>
              <a:t>KẾT QUẢ ĐẠT ĐƯỢC</a:t>
            </a:r>
          </a:p>
        </p:txBody>
      </p:sp>
      <p:sp>
        <p:nvSpPr>
          <p:cNvPr id="8" name="TextBox 7"/>
          <p:cNvSpPr txBox="1"/>
          <p:nvPr/>
        </p:nvSpPr>
        <p:spPr>
          <a:xfrm>
            <a:off x="914400" y="2011680"/>
            <a:ext cx="4754880" cy="4114800"/>
          </a:xfrm>
          <a:prstGeom prst="rect">
            <a:avLst/>
          </a:prstGeom>
          <a:noFill/>
        </p:spPr>
        <p:txBody>
          <a:bodyPr wrap="square">
            <a:spAutoFit/>
          </a:bodyPr>
          <a:lstStyle/>
          <a:p>
            <a:pPr>
              <a:defRPr sz="1100">
                <a:solidFill>
                  <a:srgbClr val="2D3748"/>
                </a:solidFill>
                <a:latin typeface="Segoe UI"/>
              </a:defRPr>
            </a:pPr>
            <a:r>
              <a:t>• Hoàn thành 100% các tính năng đề ra: 25 yêu cầu chức năng, 10 yêu cầu phi chức năng.</a:t>
            </a:r>
            <a:br/>
          </a:p>
          <a:p>
            <a:pPr>
              <a:defRPr sz="1100">
                <a:solidFill>
                  <a:srgbClr val="2D3748"/>
                </a:solidFill>
                <a:latin typeface="Segoe UI"/>
              </a:defRPr>
            </a:pPr>
            <a:r>
              <a:t>• Hiện thực hóa giải pháp bảo vệ dữ liệu ba lớp chống leo thang đặc quyền và toàn vẹn tài chính tại cơ sở dữ liệu.</a:t>
            </a:r>
            <a:br/>
          </a:p>
          <a:p>
            <a:pPr>
              <a:defRPr sz="1100">
                <a:solidFill>
                  <a:srgbClr val="2D3748"/>
                </a:solidFill>
                <a:latin typeface="Segoe UI"/>
              </a:defRPr>
            </a:pPr>
            <a:r>
              <a:t>• Hệ thống đạt chất lượng cao: 131 tệp kiểm thử với 408 ca test (100% logic test vượt qua).</a:t>
            </a:r>
            <a:br/>
          </a:p>
          <a:p>
            <a:pPr>
              <a:defRPr sz="1100">
                <a:solidFill>
                  <a:srgbClr val="2D3748"/>
                </a:solidFill>
                <a:latin typeface="Segoe UI"/>
              </a:defRPr>
            </a:pPr>
            <a:r>
              <a:t>• Giao diện thân thiện, 100% tiếng Việt chuẩn mực, hỗ trợ co giãn linh hoạt trên mọi kích thước màn hình.</a:t>
            </a:r>
            <a:br/>
          </a:p>
        </p:txBody>
      </p:sp>
      <p:sp>
        <p:nvSpPr>
          <p:cNvPr id="9" name="Rounded Rectangle 8"/>
          <p:cNvSpPr/>
          <p:nvPr/>
        </p:nvSpPr>
        <p:spPr>
          <a:xfrm>
            <a:off x="6217920" y="1371600"/>
            <a:ext cx="5212080" cy="4937760"/>
          </a:xfrm>
          <a:prstGeom prst="roundRect">
            <a:avLst/>
          </a:prstGeom>
          <a:solidFill>
            <a:srgbClr val="FFFFFF"/>
          </a:solidFill>
          <a:ln w="19050">
            <a:solidFill>
              <a:srgbClr val="DD6B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481328"/>
            <a:ext cx="4937760" cy="411480"/>
          </a:xfrm>
          <a:prstGeom prst="rect">
            <a:avLst/>
          </a:prstGeom>
          <a:noFill/>
        </p:spPr>
        <p:txBody>
          <a:bodyPr wrap="square">
            <a:spAutoFit/>
          </a:bodyPr>
          <a:lstStyle/>
          <a:p>
            <a:pPr>
              <a:defRPr sz="1300" b="1">
                <a:solidFill>
                  <a:srgbClr val="1A365D"/>
                </a:solidFill>
                <a:latin typeface="Segoe UI"/>
              </a:defRPr>
            </a:pPr>
            <a:r>
              <a:t>HƯỚNG PHÁT TRIỂN</a:t>
            </a:r>
          </a:p>
        </p:txBody>
      </p:sp>
      <p:sp>
        <p:nvSpPr>
          <p:cNvPr id="11" name="TextBox 10"/>
          <p:cNvSpPr txBox="1"/>
          <p:nvPr/>
        </p:nvSpPr>
        <p:spPr>
          <a:xfrm>
            <a:off x="6400800" y="2011680"/>
            <a:ext cx="4846320" cy="4114800"/>
          </a:xfrm>
          <a:prstGeom prst="rect">
            <a:avLst/>
          </a:prstGeom>
          <a:noFill/>
        </p:spPr>
        <p:txBody>
          <a:bodyPr wrap="square">
            <a:spAutoFit/>
          </a:bodyPr>
          <a:lstStyle/>
          <a:p>
            <a:pPr>
              <a:defRPr sz="1100">
                <a:solidFill>
                  <a:srgbClr val="2D3748"/>
                </a:solidFill>
                <a:latin typeface="Segoe UI"/>
              </a:defRPr>
            </a:pPr>
            <a:r>
              <a:t>• Tích hợp Open Banking thực tế: Kết nối API ngân hàng thương mại để tự động gạch nợ hóa đơn thời gian thực.</a:t>
            </a:r>
            <a:br/>
          </a:p>
          <a:p>
            <a:pPr>
              <a:defRPr sz="1100">
                <a:solidFill>
                  <a:srgbClr val="2D3748"/>
                </a:solidFill>
                <a:latin typeface="Segoe UI"/>
              </a:defRPr>
            </a:pPr>
            <a:r>
              <a:t>• Ứng dụng thị giác máy tính AI: Huấn luyện mô hình cục bộ trên thiết bị di động hỗ trợ tự động nhận diện chỉ số công tơ điện nước và biển số xe tại sảnh.</a:t>
            </a:r>
            <a:br/>
          </a:p>
          <a:p>
            <a:pPr>
              <a:defRPr sz="1100">
                <a:solidFill>
                  <a:srgbClr val="2D3748"/>
                </a:solidFill>
                <a:latin typeface="Segoe UI"/>
              </a:defRPr>
            </a:pPr>
            <a:r>
              <a:t>• Mở rộng đa nền tảng: Đóng gói và phát hành ứng dụng trên nền tảng iOS và phiên bản web dành cho ban quản trị tòa nhà.</a:t>
            </a:r>
            <a:b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png"/>
          <p:cNvPicPr>
            <a:picLocks noChangeAspect="1"/>
          </p:cNvPicPr>
          <p:nvPr/>
        </p:nvPicPr>
        <p:blipFill>
          <a:blip r:embed="rId2"/>
          <a:stretch>
            <a:fillRect/>
          </a:stretch>
        </p:blipFill>
        <p:spPr>
          <a:xfrm>
            <a:off x="5166360" y="1097280"/>
            <a:ext cx="1997702" cy="1828800"/>
          </a:xfrm>
          <a:prstGeom prst="rect">
            <a:avLst/>
          </a:prstGeom>
        </p:spPr>
      </p:pic>
      <p:sp>
        <p:nvSpPr>
          <p:cNvPr id="4" name="TextBox 3"/>
          <p:cNvSpPr txBox="1"/>
          <p:nvPr/>
        </p:nvSpPr>
        <p:spPr>
          <a:xfrm>
            <a:off x="1371600" y="3108960"/>
            <a:ext cx="9448495" cy="3200400"/>
          </a:xfrm>
          <a:prstGeom prst="rect">
            <a:avLst/>
          </a:prstGeom>
          <a:noFill/>
        </p:spPr>
        <p:txBody>
          <a:bodyPr wrap="square">
            <a:spAutoFit/>
          </a:bodyPr>
          <a:lstStyle/>
          <a:p>
            <a:pPr algn="ctr">
              <a:defRPr sz="2600" b="1">
                <a:solidFill>
                  <a:srgbClr val="DD6B20"/>
                </a:solidFill>
                <a:latin typeface="Segoe UI"/>
              </a:defRPr>
            </a:pPr>
            <a:r>
              <a:t>XIN CHÂN THÀNH CẢM ƠN QUÝ THẦY CÔ VÀ HỘI ĐỒNG ĐÁNH GIÁ!</a:t>
            </a:r>
          </a:p>
          <a:p>
            <a:pPr algn="ctr">
              <a:defRPr sz="2000" b="1">
                <a:solidFill>
                  <a:srgbClr val="FFFFFF"/>
                </a:solidFill>
                <a:latin typeface="Segoe UI"/>
              </a:defRPr>
            </a:pPr>
            <a:br/>
            <a:r>
              <a:t>PHẦN GIẢI ĐÁP CÂU HỎI &amp; ĐÓNG GÓP Ý KIẾN (Q&amp;A)</a:t>
            </a:r>
            <a:br/>
          </a:p>
          <a:p>
            <a:pPr algn="ctr">
              <a:defRPr sz="1300">
                <a:solidFill>
                  <a:srgbClr val="E2E8F0"/>
                </a:solidFill>
                <a:latin typeface="Segoe UI"/>
              </a:defRPr>
            </a:pPr>
            <a:r>
              <a:t>Sinh viên thực hiện: Phạm Văn Minh - Mã sinh viên: 23010350</a:t>
            </a:r>
            <a:br/>
            <a:r>
              <a:t>Trường Đại học Phenikaa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